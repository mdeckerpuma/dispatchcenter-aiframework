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3" r:id="rId5"/>
    <p:sldId id="276" r:id="rId25"/>
    <p:sldId id="261" r:id="rId6"/>
    <p:sldId id="277" r:id="rId26"/>
    <p:sldId id="262" r:id="rId7"/>
    <p:sldId id="275" r:id="rId8"/>
    <p:sldId id="263" r:id="rId9"/>
    <p:sldId id="264" r:id="rId10"/>
    <p:sldId id="265" r:id="rId11"/>
    <p:sldId id="266" r:id="rId12"/>
    <p:sldId id="274"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788"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5.xml"/><Relationship Id="rId2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365B1C-7851-4D04-A6A7-4C7BEAFD5EDE}"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EBAC2-D414-4A0A-B86F-C219EF7C5FAD}" type="slidenum">
              <a:rPr lang="en-US" smtClean="0"/>
              <a:t>‹#›</a:t>
            </a:fld>
            <a:endParaRPr lang="en-US"/>
          </a:p>
        </p:txBody>
      </p:sp>
    </p:spTree>
    <p:extLst>
      <p:ext uri="{BB962C8B-B14F-4D97-AF65-F5344CB8AC3E}">
        <p14:creationId xmlns:p14="http://schemas.microsoft.com/office/powerpoint/2010/main" val="163577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5EBAC2-D414-4A0A-B86F-C219EF7C5FAD}" type="slidenum">
              <a:rPr lang="en-US" smtClean="0"/>
              <a:t>4</a:t>
            </a:fld>
            <a:endParaRPr lang="en-US"/>
          </a:p>
        </p:txBody>
      </p:sp>
    </p:spTree>
    <p:extLst>
      <p:ext uri="{BB962C8B-B14F-4D97-AF65-F5344CB8AC3E}">
        <p14:creationId xmlns:p14="http://schemas.microsoft.com/office/powerpoint/2010/main" val="343768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560320"/>
            <a:ext cx="10332720" cy="1097280"/>
          </a:xfrm>
          <a:prstGeom prst="rect">
            <a:avLst/>
          </a:prstGeom>
          <a:noFill/>
        </p:spPr>
        <p:txBody>
          <a:bodyPr wrap="none">
            <a:spAutoFit/>
          </a:bodyPr>
          <a:lstStyle/>
          <a:p>
            <a:pPr>
              <a:defRPr sz="4400" b="1"/>
            </a:pPr>
            <a:r>
              <a:t>Microsoft Agent Framework</a:t>
            </a:r>
          </a:p>
        </p:txBody>
      </p:sp>
      <p:sp>
        <p:nvSpPr>
          <p:cNvPr id="3" name="TextBox 2"/>
          <p:cNvSpPr txBox="1"/>
          <p:nvPr/>
        </p:nvSpPr>
        <p:spPr>
          <a:xfrm>
            <a:off x="914400" y="3657600"/>
            <a:ext cx="10332720" cy="731520"/>
          </a:xfrm>
          <a:prstGeom prst="rect">
            <a:avLst/>
          </a:prstGeom>
          <a:noFill/>
        </p:spPr>
        <p:txBody>
          <a:bodyPr wrap="none">
            <a:spAutoFit/>
          </a:bodyPr>
          <a:lstStyle/>
          <a:p>
            <a:pPr>
              <a:defRPr sz="2000">
                <a:solidFill>
                  <a:srgbClr val="595959"/>
                </a:solidFill>
              </a:defRPr>
            </a:pPr>
            <a:r>
              <a:t>What it is, how it's built, and how we'd use 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2050048" cy="553998"/>
          </a:xfrm>
          <a:prstGeom prst="rect">
            <a:avLst/>
          </a:prstGeom>
          <a:noFill/>
        </p:spPr>
        <p:txBody>
          <a:bodyPr wrap="none">
            <a:spAutoFit/>
          </a:bodyPr>
          <a:lstStyle/>
          <a:p>
            <a:pPr>
              <a:defRPr sz="3000" b="1"/>
            </a:pPr>
            <a:r>
              <a:rPr lang="en-US" dirty="0"/>
              <a:t>Why use it?</a:t>
            </a:r>
            <a:endParaRPr dirty="0"/>
          </a:p>
        </p:txBody>
      </p:sp>
      <p:sp>
        <p:nvSpPr>
          <p:cNvPr id="3" name="TextBox 2"/>
          <p:cNvSpPr txBox="1"/>
          <p:nvPr/>
        </p:nvSpPr>
        <p:spPr>
          <a:xfrm>
            <a:off x="502920" y="1097280"/>
            <a:ext cx="5577840" cy="4555093"/>
          </a:xfrm>
          <a:prstGeom prst="rect">
            <a:avLst/>
          </a:prstGeom>
          <a:noFill/>
        </p:spPr>
        <p:txBody>
          <a:bodyPr wrap="square">
            <a:spAutoFit/>
          </a:bodyPr>
          <a:lstStyle/>
          <a:p>
            <a:pPr>
              <a:spcAft>
                <a:spcPts val="600"/>
              </a:spcAft>
              <a:defRPr sz="1500"/>
            </a:pPr>
            <a:r>
              <a:rPr lang="en-US" dirty="0"/>
              <a:t>If you want to invoke anything to do with an LLM in your code, you need handling for it. At the most basic level, that means handling sending and receiving responses + waiting. </a:t>
            </a:r>
          </a:p>
          <a:p>
            <a:pPr>
              <a:spcAft>
                <a:spcPts val="600"/>
              </a:spcAft>
              <a:defRPr sz="1500"/>
            </a:pPr>
            <a:endParaRPr lang="en-US" dirty="0"/>
          </a:p>
          <a:p>
            <a:pPr>
              <a:spcAft>
                <a:spcPts val="600"/>
              </a:spcAft>
              <a:defRPr sz="1500"/>
            </a:pPr>
            <a:r>
              <a:rPr lang="en-US" dirty="0"/>
              <a:t>If you wanted to do anything more complex, you’d have to figure out a way to translate its text output into action. </a:t>
            </a:r>
          </a:p>
          <a:p>
            <a:pPr>
              <a:spcAft>
                <a:spcPts val="600"/>
              </a:spcAft>
              <a:defRPr sz="1500"/>
            </a:pPr>
            <a:endParaRPr lang="en-US" dirty="0"/>
          </a:p>
          <a:p>
            <a:pPr>
              <a:spcAft>
                <a:spcPts val="600"/>
              </a:spcAft>
              <a:defRPr sz="1500"/>
            </a:pPr>
            <a:r>
              <a:rPr lang="en-US" dirty="0"/>
              <a:t>Agent framework gives you these tools from the most basic to the hyper-specific. Things like:</a:t>
            </a:r>
          </a:p>
          <a:p>
            <a:pPr marL="285750" indent="-285750">
              <a:spcAft>
                <a:spcPts val="600"/>
              </a:spcAft>
              <a:buFont typeface="Arial" panose="020B0604020202020204" pitchFamily="34" charset="0"/>
              <a:buChar char="•"/>
              <a:defRPr sz="1500"/>
            </a:pPr>
            <a:r>
              <a:rPr lang="en-US" dirty="0"/>
              <a:t>How you want the AI prompted (“you are X, respond in style Y with Z format”)</a:t>
            </a:r>
          </a:p>
          <a:p>
            <a:pPr marL="285750" indent="-285750">
              <a:spcAft>
                <a:spcPts val="600"/>
              </a:spcAft>
              <a:buFont typeface="Arial" panose="020B0604020202020204" pitchFamily="34" charset="0"/>
              <a:buChar char="•"/>
              <a:defRPr sz="1500"/>
            </a:pPr>
            <a:r>
              <a:rPr lang="en-US" dirty="0"/>
              <a:t>The environment specific context the AI can draw from</a:t>
            </a:r>
          </a:p>
          <a:p>
            <a:pPr marL="285750" indent="-285750">
              <a:spcAft>
                <a:spcPts val="600"/>
              </a:spcAft>
              <a:buFont typeface="Arial" panose="020B0604020202020204" pitchFamily="34" charset="0"/>
              <a:buChar char="•"/>
              <a:defRPr sz="1500"/>
            </a:pPr>
            <a:r>
              <a:rPr lang="en-US" dirty="0"/>
              <a:t>Managing conversation state and history</a:t>
            </a:r>
          </a:p>
          <a:p>
            <a:pPr marL="285750" indent="-285750">
              <a:spcAft>
                <a:spcPts val="600"/>
              </a:spcAft>
              <a:buFont typeface="Arial" panose="020B0604020202020204" pitchFamily="34" charset="0"/>
              <a:buChar char="•"/>
              <a:defRPr sz="1500"/>
            </a:pPr>
            <a:r>
              <a:rPr lang="en-US" dirty="0"/>
              <a:t>Calling functions (in your code) you allow it to access</a:t>
            </a:r>
          </a:p>
          <a:p>
            <a:pPr marL="285750" indent="-285750">
              <a:spcAft>
                <a:spcPts val="600"/>
              </a:spcAft>
              <a:buFont typeface="Arial" panose="020B0604020202020204" pitchFamily="34" charset="0"/>
              <a:buChar char="•"/>
              <a:defRPr sz="1500"/>
            </a:pPr>
            <a:r>
              <a:rPr lang="en-US" dirty="0"/>
              <a:t>Proposing actions to take</a:t>
            </a:r>
          </a:p>
          <a:p>
            <a:pPr marL="285750" indent="-285750">
              <a:spcAft>
                <a:spcPts val="600"/>
              </a:spcAft>
              <a:buFont typeface="Arial" panose="020B0604020202020204" pitchFamily="34" charset="0"/>
              <a:buChar char="•"/>
              <a:defRPr sz="1500"/>
            </a:pPr>
            <a:r>
              <a:rPr lang="en-US" dirty="0"/>
              <a:t>Among a lot of other things. Like </a:t>
            </a:r>
            <a:r>
              <a:rPr lang="en-US" dirty="0" err="1"/>
              <a:t>kinda</a:t>
            </a:r>
            <a:r>
              <a:rPr lang="en-US" dirty="0"/>
              <a:t> too many things. </a:t>
            </a:r>
            <a:endParaRPr dirty="0"/>
          </a:p>
        </p:txBody>
      </p:sp>
      <p:pic>
        <p:nvPicPr>
          <p:cNvPr id="4" name="Picture 3" descr="image1.png"/>
          <p:cNvPicPr>
            <a:picLocks noChangeAspect="1"/>
          </p:cNvPicPr>
          <p:nvPr/>
        </p:nvPicPr>
        <p:blipFill>
          <a:blip r:embed="rId2"/>
          <a:stretch>
            <a:fillRect/>
          </a:stretch>
        </p:blipFill>
        <p:spPr>
          <a:xfrm>
            <a:off x="6217920" y="1097280"/>
            <a:ext cx="5577840" cy="1216465"/>
          </a:xfrm>
          <a:prstGeom prst="rect">
            <a:avLst/>
          </a:prstGeom>
        </p:spPr>
      </p:pic>
      <p:pic>
        <p:nvPicPr>
          <p:cNvPr id="5" name="Picture 4" descr="image10.png"/>
          <p:cNvPicPr>
            <a:picLocks noChangeAspect="1"/>
          </p:cNvPicPr>
          <p:nvPr/>
        </p:nvPicPr>
        <p:blipFill>
          <a:blip r:embed="rId3"/>
          <a:stretch>
            <a:fillRect/>
          </a:stretch>
        </p:blipFill>
        <p:spPr>
          <a:xfrm>
            <a:off x="6217920" y="2743200"/>
            <a:ext cx="5577840" cy="22677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4437305" cy="553998"/>
          </a:xfrm>
          <a:prstGeom prst="rect">
            <a:avLst/>
          </a:prstGeom>
          <a:noFill/>
        </p:spPr>
        <p:txBody>
          <a:bodyPr wrap="none">
            <a:spAutoFit/>
          </a:bodyPr>
          <a:lstStyle/>
          <a:p>
            <a:pPr>
              <a:defRPr sz="3000" b="1"/>
            </a:pPr>
            <a:r>
              <a:rPr lang="en-US" dirty="0"/>
              <a:t>How does it work at large?</a:t>
            </a:r>
            <a:endParaRPr dirty="0"/>
          </a:p>
        </p:txBody>
      </p:sp>
      <p:sp>
        <p:nvSpPr>
          <p:cNvPr id="3" name="TextBox 2"/>
          <p:cNvSpPr txBox="1"/>
          <p:nvPr/>
        </p:nvSpPr>
        <p:spPr>
          <a:xfrm>
            <a:off x="457200" y="1097280"/>
            <a:ext cx="5486400" cy="5093702"/>
          </a:xfrm>
          <a:prstGeom prst="rect">
            <a:avLst/>
          </a:prstGeom>
          <a:noFill/>
        </p:spPr>
        <p:txBody>
          <a:bodyPr wrap="square">
            <a:spAutoFit/>
          </a:bodyPr>
          <a:lstStyle/>
          <a:p>
            <a:pPr>
              <a:spcAft>
                <a:spcPts val="600"/>
              </a:spcAft>
              <a:defRPr sz="1500"/>
            </a:pPr>
            <a:r>
              <a:rPr lang="en-US" dirty="0"/>
              <a:t>I find myself thinking of a webserver as an analogy, even if not the most well-fit. </a:t>
            </a:r>
          </a:p>
          <a:p>
            <a:pPr>
              <a:spcAft>
                <a:spcPts val="600"/>
              </a:spcAft>
              <a:defRPr sz="1500"/>
            </a:pPr>
            <a:endParaRPr lang="en-US" dirty="0"/>
          </a:p>
          <a:p>
            <a:pPr>
              <a:spcAft>
                <a:spcPts val="600"/>
              </a:spcAft>
              <a:defRPr sz="1500"/>
            </a:pPr>
            <a:r>
              <a:rPr lang="en-US" dirty="0"/>
              <a:t>The agent is somewhat akin to your host. </a:t>
            </a:r>
          </a:p>
          <a:p>
            <a:pPr marL="285750" indent="-285750">
              <a:spcAft>
                <a:spcPts val="600"/>
              </a:spcAft>
              <a:buFont typeface="Arial" panose="020B0604020202020204" pitchFamily="34" charset="0"/>
              <a:buChar char="•"/>
              <a:defRPr sz="1500"/>
            </a:pPr>
            <a:r>
              <a:rPr lang="en-US" dirty="0"/>
              <a:t>It sits instantiated and ready for whenever you might want to access it — though unlike a real server it isn't listening; it only runs when you invoke it. </a:t>
            </a:r>
          </a:p>
          <a:p>
            <a:pPr marL="285750" indent="-285750">
              <a:spcAft>
                <a:spcPts val="600"/>
              </a:spcAft>
              <a:buFont typeface="Arial" panose="020B0604020202020204" pitchFamily="34" charset="0"/>
              <a:buChar char="•"/>
              <a:defRPr sz="1500"/>
            </a:pPr>
            <a:r>
              <a:rPr lang="en-US" dirty="0"/>
              <a:t>Within that “host” (agent), there are numerous features and functionalities. </a:t>
            </a:r>
          </a:p>
          <a:p>
            <a:pPr marL="285750" indent="-285750">
              <a:spcAft>
                <a:spcPts val="600"/>
              </a:spcAft>
              <a:buFont typeface="Arial" panose="020B0604020202020204" pitchFamily="34" charset="0"/>
              <a:buChar char="•"/>
              <a:defRPr sz="1500"/>
            </a:pPr>
            <a:r>
              <a:rPr lang="en-US" dirty="0"/>
              <a:t>Much like a web server, these things don’t have to necessarily actually </a:t>
            </a:r>
            <a:r>
              <a:rPr lang="en-US" i="1" dirty="0"/>
              <a:t>live</a:t>
            </a:r>
            <a:r>
              <a:rPr lang="en-US" dirty="0"/>
              <a:t> within our “host” (agent), in so much as they are accessible from there and the results get returned there. </a:t>
            </a:r>
          </a:p>
          <a:p>
            <a:pPr marL="285750" indent="-285750">
              <a:spcAft>
                <a:spcPts val="600"/>
              </a:spcAft>
              <a:buFont typeface="Arial" panose="020B0604020202020204" pitchFamily="34" charset="0"/>
              <a:buChar char="•"/>
              <a:defRPr sz="1500"/>
            </a:pPr>
            <a:r>
              <a:rPr lang="en-US" dirty="0"/>
              <a:t>This framing is helpful for me just in distinguishing where exactly the actual LLM/AI models come into play, as it can be confusing at first.</a:t>
            </a:r>
          </a:p>
          <a:p>
            <a:pPr>
              <a:spcAft>
                <a:spcPts val="600"/>
              </a:spcAft>
              <a:defRPr sz="1500"/>
            </a:pPr>
            <a:endParaRPr lang="en-US" dirty="0"/>
          </a:p>
          <a:p>
            <a:pPr>
              <a:spcAft>
                <a:spcPts val="600"/>
              </a:spcAft>
              <a:defRPr sz="1500"/>
            </a:pPr>
            <a:r>
              <a:rPr lang="en-US" dirty="0"/>
              <a:t>The user is the client in this analogy – they send their request, confirm or deny, and wait for a response. But client is a vocab word used by the framework to represent something else, so don’t dwell on this. </a:t>
            </a:r>
          </a:p>
        </p:txBody>
      </p:sp>
      <p:sp>
        <p:nvSpPr>
          <p:cNvPr id="5" name="TextBox 4"/>
          <p:cNvSpPr txBox="1"/>
          <p:nvPr/>
        </p:nvSpPr>
        <p:spPr>
          <a:xfrm>
            <a:off x="457200" y="6355080"/>
            <a:ext cx="4437305" cy="461665"/>
          </a:xfrm>
          <a:prstGeom prst="rect">
            <a:avLst/>
          </a:prstGeom>
          <a:noFill/>
        </p:spPr>
        <p:txBody>
          <a:bodyPr wrap="square">
            <a:spAutoFit/>
          </a:bodyPr>
          <a:lstStyle/>
          <a:p>
            <a:pPr>
              <a:defRPr sz="1200" i="1">
                <a:solidFill>
                  <a:srgbClr val="595959"/>
                </a:solidFill>
              </a:defRPr>
            </a:pPr>
            <a:r>
              <a:rPr dirty="0"/>
              <a:t>→ Lab 0 · open labs/Lab0-BaseFiles/</a:t>
            </a:r>
            <a:r>
              <a:rPr dirty="0" err="1"/>
              <a:t>AIAgent.cs</a:t>
            </a:r>
            <a:r>
              <a:rPr dirty="0"/>
              <a:t> — class remarks + the </a:t>
            </a:r>
            <a:r>
              <a:rPr dirty="0" err="1"/>
              <a:t>RunAsync</a:t>
            </a:r>
            <a:r>
              <a:rPr dirty="0"/>
              <a:t> overload family. </a:t>
            </a:r>
          </a:p>
        </p:txBody>
      </p:sp>
      <p:sp>
        <p:nvSpPr>
          <p:cNvPr id="8" name="TextBox 7">
            <a:extLst>
              <a:ext uri="{FF2B5EF4-FFF2-40B4-BE49-F238E27FC236}">
                <a16:creationId xmlns:a16="http://schemas.microsoft.com/office/drawing/2014/main" id="{0C682C58-1F56-A3A6-7F4E-81C41AEA3A37}"/>
              </a:ext>
            </a:extLst>
          </p:cNvPr>
          <p:cNvSpPr txBox="1"/>
          <p:nvPr/>
        </p:nvSpPr>
        <p:spPr>
          <a:xfrm>
            <a:off x="7487940" y="1988689"/>
            <a:ext cx="18288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Webhost (server)</a:t>
            </a:r>
          </a:p>
          <a:p>
            <a:pPr marL="171450" indent="-171450">
              <a:buFont typeface="Arial" panose="020B0604020202020204" pitchFamily="34" charset="0"/>
              <a:buChar char="•"/>
            </a:pPr>
            <a:r>
              <a:rPr lang="en-US" sz="1200" dirty="0"/>
              <a:t>Receives connections</a:t>
            </a:r>
          </a:p>
          <a:p>
            <a:pPr marL="171450" indent="-171450">
              <a:buFont typeface="Arial" panose="020B0604020202020204" pitchFamily="34" charset="0"/>
              <a:buChar char="•"/>
            </a:pPr>
            <a:r>
              <a:rPr lang="en-US" sz="1200" dirty="0"/>
              <a:t>Routes requests</a:t>
            </a:r>
          </a:p>
          <a:p>
            <a:pPr marL="171450" indent="-171450">
              <a:buFont typeface="Arial" panose="020B0604020202020204" pitchFamily="34" charset="0"/>
              <a:buChar char="•"/>
            </a:pPr>
            <a:r>
              <a:rPr lang="en-US" sz="1200" dirty="0"/>
              <a:t>Returns results</a:t>
            </a:r>
          </a:p>
        </p:txBody>
      </p:sp>
      <p:sp>
        <p:nvSpPr>
          <p:cNvPr id="10" name="TextBox 9">
            <a:extLst>
              <a:ext uri="{FF2B5EF4-FFF2-40B4-BE49-F238E27FC236}">
                <a16:creationId xmlns:a16="http://schemas.microsoft.com/office/drawing/2014/main" id="{9C14E12F-FB49-8BE6-5750-AFDBB5D02FC1}"/>
              </a:ext>
            </a:extLst>
          </p:cNvPr>
          <p:cNvSpPr txBox="1"/>
          <p:nvPr/>
        </p:nvSpPr>
        <p:spPr>
          <a:xfrm>
            <a:off x="6264165" y="993228"/>
            <a:ext cx="864476"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Client</a:t>
            </a:r>
          </a:p>
        </p:txBody>
      </p:sp>
      <p:sp>
        <p:nvSpPr>
          <p:cNvPr id="13" name="TextBox 12">
            <a:extLst>
              <a:ext uri="{FF2B5EF4-FFF2-40B4-BE49-F238E27FC236}">
                <a16:creationId xmlns:a16="http://schemas.microsoft.com/office/drawing/2014/main" id="{6448455F-69DE-3D89-2AB6-C49C0C7D81A2}"/>
              </a:ext>
            </a:extLst>
          </p:cNvPr>
          <p:cNvSpPr txBox="1"/>
          <p:nvPr/>
        </p:nvSpPr>
        <p:spPr>
          <a:xfrm>
            <a:off x="7166545" y="993228"/>
            <a:ext cx="1111767" cy="577081"/>
          </a:xfrm>
          <a:prstGeom prst="rect">
            <a:avLst/>
          </a:prstGeom>
          <a:noFill/>
        </p:spPr>
        <p:txBody>
          <a:bodyPr wrap="square" rtlCol="0">
            <a:spAutoFit/>
          </a:bodyPr>
          <a:lstStyle/>
          <a:p>
            <a:pPr marL="228600" indent="-228600">
              <a:buAutoNum type="arabicPeriod"/>
            </a:pPr>
            <a:r>
              <a:rPr lang="en-US" sz="1050" dirty="0">
                <a:solidFill>
                  <a:srgbClr val="FF0000"/>
                </a:solidFill>
              </a:rPr>
              <a:t>Get me this webpage</a:t>
            </a:r>
          </a:p>
          <a:p>
            <a:pPr marL="228600" indent="-228600">
              <a:buAutoNum type="arabicPeriod"/>
            </a:pPr>
            <a:r>
              <a:rPr lang="en-US" sz="1050" dirty="0">
                <a:solidFill>
                  <a:srgbClr val="FF0000"/>
                </a:solidFill>
              </a:rPr>
              <a:t>Log me in</a:t>
            </a:r>
          </a:p>
        </p:txBody>
      </p:sp>
      <p:sp>
        <p:nvSpPr>
          <p:cNvPr id="19" name="TextBox 18">
            <a:extLst>
              <a:ext uri="{FF2B5EF4-FFF2-40B4-BE49-F238E27FC236}">
                <a16:creationId xmlns:a16="http://schemas.microsoft.com/office/drawing/2014/main" id="{D5DA2947-DBA3-0E2B-4444-680CC01D5136}"/>
              </a:ext>
            </a:extLst>
          </p:cNvPr>
          <p:cNvSpPr txBox="1"/>
          <p:nvPr/>
        </p:nvSpPr>
        <p:spPr>
          <a:xfrm>
            <a:off x="5943600" y="1892931"/>
            <a:ext cx="1505607" cy="900246"/>
          </a:xfrm>
          <a:prstGeom prst="rect">
            <a:avLst/>
          </a:prstGeom>
          <a:noFill/>
        </p:spPr>
        <p:txBody>
          <a:bodyPr wrap="square" rtlCol="0">
            <a:spAutoFit/>
          </a:bodyPr>
          <a:lstStyle/>
          <a:p>
            <a:pPr marL="228600" indent="-228600">
              <a:buAutoNum type="arabicPeriod"/>
            </a:pPr>
            <a:r>
              <a:rPr lang="en-US" sz="1050" dirty="0">
                <a:solidFill>
                  <a:srgbClr val="0070C0"/>
                </a:solidFill>
              </a:rPr>
              <a:t>Here’s the page you asked for</a:t>
            </a:r>
          </a:p>
          <a:p>
            <a:pPr marL="228600" indent="-228600">
              <a:buAutoNum type="arabicPeriod"/>
            </a:pPr>
            <a:r>
              <a:rPr lang="en-US" sz="1050" dirty="0">
                <a:solidFill>
                  <a:srgbClr val="0070C0"/>
                </a:solidFill>
              </a:rPr>
              <a:t>Here’s the result for your login (success/fail)</a:t>
            </a:r>
          </a:p>
        </p:txBody>
      </p:sp>
      <p:cxnSp>
        <p:nvCxnSpPr>
          <p:cNvPr id="21" name="Straight Arrow Connector 20">
            <a:extLst>
              <a:ext uri="{FF2B5EF4-FFF2-40B4-BE49-F238E27FC236}">
                <a16:creationId xmlns:a16="http://schemas.microsoft.com/office/drawing/2014/main" id="{8A8310C7-A7F9-BD42-46BB-8ED68B27FBC1}"/>
              </a:ext>
            </a:extLst>
          </p:cNvPr>
          <p:cNvCxnSpPr>
            <a:cxnSpLocks/>
          </p:cNvCxnSpPr>
          <p:nvPr/>
        </p:nvCxnSpPr>
        <p:spPr>
          <a:xfrm>
            <a:off x="6997933" y="1401203"/>
            <a:ext cx="724496" cy="4906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965DBC1-3ACD-DB57-87FC-63F8F9A32411}"/>
              </a:ext>
            </a:extLst>
          </p:cNvPr>
          <p:cNvCxnSpPr>
            <a:cxnSpLocks/>
          </p:cNvCxnSpPr>
          <p:nvPr/>
        </p:nvCxnSpPr>
        <p:spPr>
          <a:xfrm flipH="1" flipV="1">
            <a:off x="6781724" y="1458169"/>
            <a:ext cx="652955" cy="499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A0EBEF2-268C-61F3-2246-1073BDF96117}"/>
              </a:ext>
            </a:extLst>
          </p:cNvPr>
          <p:cNvCxnSpPr/>
          <p:nvPr/>
        </p:nvCxnSpPr>
        <p:spPr>
          <a:xfrm flipV="1">
            <a:off x="9355474" y="1891842"/>
            <a:ext cx="1560786" cy="1514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FEE1ED87-87D1-9152-CC5C-AB19654A06A8}"/>
              </a:ext>
            </a:extLst>
          </p:cNvPr>
          <p:cNvSpPr txBox="1"/>
          <p:nvPr/>
        </p:nvSpPr>
        <p:spPr>
          <a:xfrm>
            <a:off x="9079578" y="1526630"/>
            <a:ext cx="1962808" cy="430887"/>
          </a:xfrm>
          <a:prstGeom prst="rect">
            <a:avLst/>
          </a:prstGeom>
          <a:noFill/>
        </p:spPr>
        <p:txBody>
          <a:bodyPr wrap="square" rtlCol="0">
            <a:spAutoFit/>
          </a:bodyPr>
          <a:lstStyle/>
          <a:p>
            <a:r>
              <a:rPr lang="en-US" sz="1100" dirty="0">
                <a:solidFill>
                  <a:srgbClr val="0070C0"/>
                </a:solidFill>
              </a:rPr>
              <a:t>Does this login info and user exist and match?</a:t>
            </a:r>
          </a:p>
        </p:txBody>
      </p:sp>
      <p:sp>
        <p:nvSpPr>
          <p:cNvPr id="34" name="TextBox 33">
            <a:extLst>
              <a:ext uri="{FF2B5EF4-FFF2-40B4-BE49-F238E27FC236}">
                <a16:creationId xmlns:a16="http://schemas.microsoft.com/office/drawing/2014/main" id="{0DB2955E-5179-2F8E-3BB0-5C2A8EF8F7CA}"/>
              </a:ext>
            </a:extLst>
          </p:cNvPr>
          <p:cNvSpPr txBox="1"/>
          <p:nvPr/>
        </p:nvSpPr>
        <p:spPr>
          <a:xfrm>
            <a:off x="10916260" y="1495458"/>
            <a:ext cx="122970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Database</a:t>
            </a:r>
          </a:p>
        </p:txBody>
      </p:sp>
      <p:cxnSp>
        <p:nvCxnSpPr>
          <p:cNvPr id="36" name="Straight Arrow Connector 35">
            <a:extLst>
              <a:ext uri="{FF2B5EF4-FFF2-40B4-BE49-F238E27FC236}">
                <a16:creationId xmlns:a16="http://schemas.microsoft.com/office/drawing/2014/main" id="{306A6AAA-8572-F64C-6764-827550E45CE1}"/>
              </a:ext>
            </a:extLst>
          </p:cNvPr>
          <p:cNvCxnSpPr/>
          <p:nvPr/>
        </p:nvCxnSpPr>
        <p:spPr>
          <a:xfrm flipH="1">
            <a:off x="9355474" y="1967554"/>
            <a:ext cx="1749972" cy="36395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4130C1CA-402E-2745-AB64-C07B11C2A7AC}"/>
              </a:ext>
            </a:extLst>
          </p:cNvPr>
          <p:cNvSpPr txBox="1"/>
          <p:nvPr/>
        </p:nvSpPr>
        <p:spPr>
          <a:xfrm>
            <a:off x="10707367" y="2002627"/>
            <a:ext cx="1079938" cy="276999"/>
          </a:xfrm>
          <a:prstGeom prst="rect">
            <a:avLst/>
          </a:prstGeom>
          <a:noFill/>
        </p:spPr>
        <p:txBody>
          <a:bodyPr wrap="square" rtlCol="0">
            <a:spAutoFit/>
          </a:bodyPr>
          <a:lstStyle/>
          <a:p>
            <a:r>
              <a:rPr lang="en-US" sz="1200" dirty="0">
                <a:solidFill>
                  <a:srgbClr val="00B050"/>
                </a:solidFill>
              </a:rPr>
              <a:t>Result (y/n)</a:t>
            </a:r>
          </a:p>
        </p:txBody>
      </p:sp>
      <p:sp>
        <p:nvSpPr>
          <p:cNvPr id="38" name="TextBox 37">
            <a:extLst>
              <a:ext uri="{FF2B5EF4-FFF2-40B4-BE49-F238E27FC236}">
                <a16:creationId xmlns:a16="http://schemas.microsoft.com/office/drawing/2014/main" id="{E9B1D784-9E92-D88F-C185-F63DF7BAEC4D}"/>
              </a:ext>
            </a:extLst>
          </p:cNvPr>
          <p:cNvSpPr txBox="1"/>
          <p:nvPr/>
        </p:nvSpPr>
        <p:spPr>
          <a:xfrm>
            <a:off x="7537279" y="4223375"/>
            <a:ext cx="182880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Agent</a:t>
            </a:r>
          </a:p>
          <a:p>
            <a:pPr marL="171450" indent="-171450">
              <a:buFont typeface="Arial" panose="020B0604020202020204" pitchFamily="34" charset="0"/>
              <a:buChar char="•"/>
            </a:pPr>
            <a:r>
              <a:rPr lang="en-US" sz="1200" dirty="0"/>
              <a:t>Receives connections</a:t>
            </a:r>
          </a:p>
          <a:p>
            <a:pPr marL="171450" indent="-171450">
              <a:buFont typeface="Arial" panose="020B0604020202020204" pitchFamily="34" charset="0"/>
              <a:buChar char="•"/>
            </a:pPr>
            <a:r>
              <a:rPr lang="en-US" sz="1200" dirty="0"/>
              <a:t>Routes requests</a:t>
            </a:r>
          </a:p>
          <a:p>
            <a:pPr marL="171450" indent="-171450">
              <a:buFont typeface="Arial" panose="020B0604020202020204" pitchFamily="34" charset="0"/>
              <a:buChar char="•"/>
            </a:pPr>
            <a:r>
              <a:rPr lang="en-US" sz="1200" dirty="0"/>
              <a:t>Returns results</a:t>
            </a:r>
          </a:p>
        </p:txBody>
      </p:sp>
      <p:sp>
        <p:nvSpPr>
          <p:cNvPr id="39" name="TextBox 38">
            <a:extLst>
              <a:ext uri="{FF2B5EF4-FFF2-40B4-BE49-F238E27FC236}">
                <a16:creationId xmlns:a16="http://schemas.microsoft.com/office/drawing/2014/main" id="{BADF07DE-E922-9052-F7CF-FA2917E174F5}"/>
              </a:ext>
            </a:extLst>
          </p:cNvPr>
          <p:cNvSpPr txBox="1"/>
          <p:nvPr/>
        </p:nvSpPr>
        <p:spPr>
          <a:xfrm>
            <a:off x="6490138" y="3352082"/>
            <a:ext cx="864476" cy="369332"/>
          </a:xfrm>
          <a:prstGeom prst="rect">
            <a:avLst/>
          </a:prstGeom>
          <a:noFill/>
        </p:spPr>
        <p:txBody>
          <a:bodyPr wrap="square" rtlCol="0">
            <a:spAutoFit/>
          </a:bodyPr>
          <a:lstStyle/>
          <a:p>
            <a:r>
              <a:rPr lang="en-US" dirty="0"/>
              <a:t>User</a:t>
            </a:r>
          </a:p>
        </p:txBody>
      </p:sp>
      <p:sp>
        <p:nvSpPr>
          <p:cNvPr id="40" name="TextBox 39">
            <a:extLst>
              <a:ext uri="{FF2B5EF4-FFF2-40B4-BE49-F238E27FC236}">
                <a16:creationId xmlns:a16="http://schemas.microsoft.com/office/drawing/2014/main" id="{CB088451-DFFA-CD4E-E423-846EF4CE6CCB}"/>
              </a:ext>
            </a:extLst>
          </p:cNvPr>
          <p:cNvSpPr txBox="1"/>
          <p:nvPr/>
        </p:nvSpPr>
        <p:spPr>
          <a:xfrm>
            <a:off x="7230968" y="3240091"/>
            <a:ext cx="1111767" cy="738664"/>
          </a:xfrm>
          <a:prstGeom prst="rect">
            <a:avLst/>
          </a:prstGeom>
          <a:noFill/>
        </p:spPr>
        <p:txBody>
          <a:bodyPr wrap="square" rtlCol="0">
            <a:spAutoFit/>
          </a:bodyPr>
          <a:lstStyle/>
          <a:p>
            <a:pPr marL="228600" indent="-228600">
              <a:buAutoNum type="arabicPeriod"/>
            </a:pPr>
            <a:r>
              <a:rPr lang="en-US" sz="1050" dirty="0">
                <a:solidFill>
                  <a:srgbClr val="FF0000"/>
                </a:solidFill>
              </a:rPr>
              <a:t>Interpret this message</a:t>
            </a:r>
          </a:p>
          <a:p>
            <a:pPr marL="228600" indent="-228600">
              <a:buAutoNum type="arabicPeriod"/>
            </a:pPr>
            <a:r>
              <a:rPr lang="en-US" sz="1050" dirty="0">
                <a:solidFill>
                  <a:srgbClr val="FF0000"/>
                </a:solidFill>
              </a:rPr>
              <a:t>Confirm that you can do X</a:t>
            </a:r>
          </a:p>
        </p:txBody>
      </p:sp>
      <p:sp>
        <p:nvSpPr>
          <p:cNvPr id="41" name="TextBox 40">
            <a:extLst>
              <a:ext uri="{FF2B5EF4-FFF2-40B4-BE49-F238E27FC236}">
                <a16:creationId xmlns:a16="http://schemas.microsoft.com/office/drawing/2014/main" id="{D0313B19-D7C2-C847-D8B8-21C9B1EB7CF2}"/>
              </a:ext>
            </a:extLst>
          </p:cNvPr>
          <p:cNvSpPr txBox="1"/>
          <p:nvPr/>
        </p:nvSpPr>
        <p:spPr>
          <a:xfrm>
            <a:off x="6008023" y="4139794"/>
            <a:ext cx="1505607" cy="900246"/>
          </a:xfrm>
          <a:prstGeom prst="rect">
            <a:avLst/>
          </a:prstGeom>
          <a:noFill/>
        </p:spPr>
        <p:txBody>
          <a:bodyPr wrap="square" rtlCol="0">
            <a:spAutoFit/>
          </a:bodyPr>
          <a:lstStyle/>
          <a:p>
            <a:pPr marL="228600" indent="-228600">
              <a:buAutoNum type="arabicPeriod"/>
            </a:pPr>
            <a:r>
              <a:rPr lang="en-US" sz="1050" dirty="0">
                <a:solidFill>
                  <a:srgbClr val="0070C0"/>
                </a:solidFill>
              </a:rPr>
              <a:t>My interpretation suggests I should take X action</a:t>
            </a:r>
          </a:p>
          <a:p>
            <a:pPr marL="228600" indent="-228600">
              <a:buAutoNum type="arabicPeriod"/>
            </a:pPr>
            <a:r>
              <a:rPr lang="en-US" sz="1050" dirty="0">
                <a:solidFill>
                  <a:srgbClr val="0070C0"/>
                </a:solidFill>
              </a:rPr>
              <a:t>Here’s the message we got back</a:t>
            </a:r>
          </a:p>
        </p:txBody>
      </p:sp>
      <p:cxnSp>
        <p:nvCxnSpPr>
          <p:cNvPr id="42" name="Straight Arrow Connector 41">
            <a:extLst>
              <a:ext uri="{FF2B5EF4-FFF2-40B4-BE49-F238E27FC236}">
                <a16:creationId xmlns:a16="http://schemas.microsoft.com/office/drawing/2014/main" id="{C288CC82-C196-3F98-F501-5DC71B34E031}"/>
              </a:ext>
            </a:extLst>
          </p:cNvPr>
          <p:cNvCxnSpPr>
            <a:cxnSpLocks/>
          </p:cNvCxnSpPr>
          <p:nvPr/>
        </p:nvCxnSpPr>
        <p:spPr>
          <a:xfrm>
            <a:off x="7062356" y="3648066"/>
            <a:ext cx="724496" cy="4906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80116684-ACFE-56D3-FF40-5813F9D1B30B}"/>
              </a:ext>
            </a:extLst>
          </p:cNvPr>
          <p:cNvCxnSpPr>
            <a:cxnSpLocks/>
          </p:cNvCxnSpPr>
          <p:nvPr/>
        </p:nvCxnSpPr>
        <p:spPr>
          <a:xfrm flipH="1" flipV="1">
            <a:off x="6846147" y="3705032"/>
            <a:ext cx="652955" cy="4993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EFCEBEBF-3B57-DDC6-672D-7885AA36E2F3}"/>
              </a:ext>
            </a:extLst>
          </p:cNvPr>
          <p:cNvCxnSpPr>
            <a:cxnSpLocks/>
          </p:cNvCxnSpPr>
          <p:nvPr/>
        </p:nvCxnSpPr>
        <p:spPr>
          <a:xfrm flipV="1">
            <a:off x="8954814" y="4116710"/>
            <a:ext cx="1885327" cy="2796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B2DC990-2FB8-CC70-8C03-9660F6754E27}"/>
              </a:ext>
            </a:extLst>
          </p:cNvPr>
          <p:cNvSpPr txBox="1"/>
          <p:nvPr/>
        </p:nvSpPr>
        <p:spPr>
          <a:xfrm>
            <a:off x="8826102" y="3730538"/>
            <a:ext cx="1962808" cy="430887"/>
          </a:xfrm>
          <a:prstGeom prst="rect">
            <a:avLst/>
          </a:prstGeom>
          <a:noFill/>
        </p:spPr>
        <p:txBody>
          <a:bodyPr wrap="square" rtlCol="0">
            <a:spAutoFit/>
          </a:bodyPr>
          <a:lstStyle/>
          <a:p>
            <a:r>
              <a:rPr lang="en-US" sz="1100" dirty="0">
                <a:solidFill>
                  <a:srgbClr val="0070C0"/>
                </a:solidFill>
              </a:rPr>
              <a:t>Call the function that matches what we need with Y input</a:t>
            </a:r>
          </a:p>
        </p:txBody>
      </p:sp>
      <p:cxnSp>
        <p:nvCxnSpPr>
          <p:cNvPr id="46" name="Straight Arrow Connector 45">
            <a:extLst>
              <a:ext uri="{FF2B5EF4-FFF2-40B4-BE49-F238E27FC236}">
                <a16:creationId xmlns:a16="http://schemas.microsoft.com/office/drawing/2014/main" id="{32CC4F79-979F-80B9-A5EE-7A45D5BACA4A}"/>
              </a:ext>
            </a:extLst>
          </p:cNvPr>
          <p:cNvCxnSpPr>
            <a:cxnSpLocks/>
          </p:cNvCxnSpPr>
          <p:nvPr/>
        </p:nvCxnSpPr>
        <p:spPr>
          <a:xfrm flipH="1">
            <a:off x="9221803" y="4187189"/>
            <a:ext cx="1747050" cy="308178"/>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5EEB853B-1B6C-FE98-D6A7-C244250BF4DA}"/>
              </a:ext>
            </a:extLst>
          </p:cNvPr>
          <p:cNvSpPr txBox="1"/>
          <p:nvPr/>
        </p:nvSpPr>
        <p:spPr>
          <a:xfrm>
            <a:off x="10167398" y="4314104"/>
            <a:ext cx="1079938" cy="276999"/>
          </a:xfrm>
          <a:prstGeom prst="rect">
            <a:avLst/>
          </a:prstGeom>
          <a:noFill/>
        </p:spPr>
        <p:txBody>
          <a:bodyPr wrap="square" rtlCol="0">
            <a:spAutoFit/>
          </a:bodyPr>
          <a:lstStyle/>
          <a:p>
            <a:r>
              <a:rPr lang="en-US" sz="1200" dirty="0">
                <a:solidFill>
                  <a:srgbClr val="00B050"/>
                </a:solidFill>
              </a:rPr>
              <a:t>Result (string)</a:t>
            </a:r>
          </a:p>
        </p:txBody>
      </p:sp>
      <p:sp>
        <p:nvSpPr>
          <p:cNvPr id="49" name="TextBox 48">
            <a:extLst>
              <a:ext uri="{FF2B5EF4-FFF2-40B4-BE49-F238E27FC236}">
                <a16:creationId xmlns:a16="http://schemas.microsoft.com/office/drawing/2014/main" id="{F50FB176-7548-ABEF-85BF-8277BBE12283}"/>
              </a:ext>
            </a:extLst>
          </p:cNvPr>
          <p:cNvSpPr txBox="1"/>
          <p:nvPr/>
        </p:nvSpPr>
        <p:spPr>
          <a:xfrm>
            <a:off x="10916260" y="3739863"/>
            <a:ext cx="122970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Codebase</a:t>
            </a:r>
          </a:p>
        </p:txBody>
      </p:sp>
      <p:cxnSp>
        <p:nvCxnSpPr>
          <p:cNvPr id="51" name="Straight Arrow Connector 50">
            <a:extLst>
              <a:ext uri="{FF2B5EF4-FFF2-40B4-BE49-F238E27FC236}">
                <a16:creationId xmlns:a16="http://schemas.microsoft.com/office/drawing/2014/main" id="{D2150F0C-F2E9-036D-7A94-03AD24E29528}"/>
              </a:ext>
            </a:extLst>
          </p:cNvPr>
          <p:cNvCxnSpPr>
            <a:cxnSpLocks/>
            <a:endCxn id="52" idx="0"/>
          </p:cNvCxnSpPr>
          <p:nvPr/>
        </p:nvCxnSpPr>
        <p:spPr>
          <a:xfrm flipH="1">
            <a:off x="11571883" y="4116710"/>
            <a:ext cx="215422" cy="122578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02275CAA-97BF-45C3-2DEF-57EE9C2E9112}"/>
              </a:ext>
            </a:extLst>
          </p:cNvPr>
          <p:cNvSpPr txBox="1"/>
          <p:nvPr/>
        </p:nvSpPr>
        <p:spPr>
          <a:xfrm>
            <a:off x="11067379" y="5342494"/>
            <a:ext cx="1009007" cy="461665"/>
          </a:xfrm>
          <a:prstGeom prst="rect">
            <a:avLst/>
          </a:prstGeom>
          <a:noFill/>
        </p:spPr>
        <p:txBody>
          <a:bodyPr wrap="square" rtlCol="0">
            <a:spAutoFit/>
          </a:bodyPr>
          <a:lstStyle/>
          <a:p>
            <a:r>
              <a:rPr lang="en-US" sz="1200" dirty="0"/>
              <a:t>Potential side effect</a:t>
            </a:r>
          </a:p>
        </p:txBody>
      </p:sp>
      <p:cxnSp>
        <p:nvCxnSpPr>
          <p:cNvPr id="58" name="Straight Connector 57">
            <a:extLst>
              <a:ext uri="{FF2B5EF4-FFF2-40B4-BE49-F238E27FC236}">
                <a16:creationId xmlns:a16="http://schemas.microsoft.com/office/drawing/2014/main" id="{3FB4A114-DE28-9350-9168-9ABACE85EF6F}"/>
              </a:ext>
            </a:extLst>
          </p:cNvPr>
          <p:cNvCxnSpPr/>
          <p:nvPr/>
        </p:nvCxnSpPr>
        <p:spPr>
          <a:xfrm flipH="1">
            <a:off x="7408480" y="5130667"/>
            <a:ext cx="367814" cy="885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39F1A762-D94E-1A75-D833-93AA8B465DF6}"/>
              </a:ext>
            </a:extLst>
          </p:cNvPr>
          <p:cNvCxnSpPr/>
          <p:nvPr/>
        </p:nvCxnSpPr>
        <p:spPr>
          <a:xfrm>
            <a:off x="9025415" y="5138686"/>
            <a:ext cx="392776" cy="885318"/>
          </a:xfrm>
          <a:prstGeom prst="line">
            <a:avLst/>
          </a:prstGeom>
        </p:spPr>
        <p:style>
          <a:lnRef idx="2">
            <a:schemeClr val="dk1"/>
          </a:lnRef>
          <a:fillRef idx="0">
            <a:schemeClr val="dk1"/>
          </a:fillRef>
          <a:effectRef idx="1">
            <a:schemeClr val="dk1"/>
          </a:effectRef>
          <a:fontRef idx="minor">
            <a:schemeClr val="tx1"/>
          </a:fontRef>
        </p:style>
      </p:cxnSp>
      <p:sp>
        <p:nvSpPr>
          <p:cNvPr id="67" name="Rectangle 66">
            <a:extLst>
              <a:ext uri="{FF2B5EF4-FFF2-40B4-BE49-F238E27FC236}">
                <a16:creationId xmlns:a16="http://schemas.microsoft.com/office/drawing/2014/main" id="{7409FBB6-DA11-62EF-FB6F-6790504F86BB}"/>
              </a:ext>
            </a:extLst>
          </p:cNvPr>
          <p:cNvSpPr/>
          <p:nvPr/>
        </p:nvSpPr>
        <p:spPr>
          <a:xfrm>
            <a:off x="5880537" y="670034"/>
            <a:ext cx="6311463" cy="251636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9" name="Rectangle 68">
            <a:extLst>
              <a:ext uri="{FF2B5EF4-FFF2-40B4-BE49-F238E27FC236}">
                <a16:creationId xmlns:a16="http://schemas.microsoft.com/office/drawing/2014/main" id="{2AEFC6B9-DF3B-AE22-EB4E-684373166E1A}"/>
              </a:ext>
            </a:extLst>
          </p:cNvPr>
          <p:cNvSpPr/>
          <p:nvPr/>
        </p:nvSpPr>
        <p:spPr>
          <a:xfrm>
            <a:off x="5880537" y="3179831"/>
            <a:ext cx="6311463" cy="3452248"/>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0" name="TextBox 69">
            <a:extLst>
              <a:ext uri="{FF2B5EF4-FFF2-40B4-BE49-F238E27FC236}">
                <a16:creationId xmlns:a16="http://schemas.microsoft.com/office/drawing/2014/main" id="{9BC950FA-4B67-88B3-1EB9-50A300CCA487}"/>
              </a:ext>
            </a:extLst>
          </p:cNvPr>
          <p:cNvSpPr txBox="1"/>
          <p:nvPr/>
        </p:nvSpPr>
        <p:spPr>
          <a:xfrm>
            <a:off x="7737560" y="5384947"/>
            <a:ext cx="1579180" cy="646331"/>
          </a:xfrm>
          <a:prstGeom prst="rect">
            <a:avLst/>
          </a:prstGeom>
          <a:noFill/>
        </p:spPr>
        <p:txBody>
          <a:bodyPr wrap="square" rtlCol="0">
            <a:spAutoFit/>
          </a:bodyPr>
          <a:lstStyle/>
          <a:p>
            <a:r>
              <a:rPr lang="en-US" dirty="0"/>
              <a:t>LLM call happens here</a:t>
            </a:r>
          </a:p>
        </p:txBody>
      </p:sp>
      <p:cxnSp>
        <p:nvCxnSpPr>
          <p:cNvPr id="72" name="Straight Connector 71">
            <a:extLst>
              <a:ext uri="{FF2B5EF4-FFF2-40B4-BE49-F238E27FC236}">
                <a16:creationId xmlns:a16="http://schemas.microsoft.com/office/drawing/2014/main" id="{D17F5083-2C7E-F4C0-9E2F-F9C965A701DD}"/>
              </a:ext>
            </a:extLst>
          </p:cNvPr>
          <p:cNvCxnSpPr/>
          <p:nvPr/>
        </p:nvCxnSpPr>
        <p:spPr>
          <a:xfrm>
            <a:off x="7408480" y="6015985"/>
            <a:ext cx="2009711" cy="8019"/>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A31D6C-1DAB-B31E-DBA3-16CF6C46604A}"/>
              </a:ext>
            </a:extLst>
          </p:cNvPr>
          <p:cNvSpPr txBox="1"/>
          <p:nvPr/>
        </p:nvSpPr>
        <p:spPr>
          <a:xfrm>
            <a:off x="457200" y="1097280"/>
            <a:ext cx="5486400" cy="4401205"/>
          </a:xfrm>
          <a:prstGeom prst="rect">
            <a:avLst/>
          </a:prstGeom>
          <a:noFill/>
        </p:spPr>
        <p:txBody>
          <a:bodyPr wrap="square">
            <a:spAutoFit/>
          </a:bodyPr>
          <a:lstStyle/>
          <a:p>
            <a:pPr>
              <a:spcAft>
                <a:spcPts val="600"/>
              </a:spcAft>
              <a:defRPr sz="1500"/>
            </a:pPr>
            <a:r>
              <a:rPr lang="en-US" dirty="0"/>
              <a:t>An “inference service” – this is the actual LLM being utilized. </a:t>
            </a:r>
          </a:p>
          <a:p>
            <a:pPr marL="285750" indent="-285750">
              <a:spcAft>
                <a:spcPts val="600"/>
              </a:spcAft>
              <a:buFont typeface="Arial" panose="020B0604020202020204" pitchFamily="34" charset="0"/>
              <a:buChar char="•"/>
              <a:defRPr sz="1500"/>
            </a:pPr>
            <a:r>
              <a:rPr lang="en-US" dirty="0"/>
              <a:t>This inference service is “hot-swappable”, both in the model itself and the way you’re accessing it. </a:t>
            </a:r>
          </a:p>
          <a:p>
            <a:pPr>
              <a:spcAft>
                <a:spcPts val="600"/>
              </a:spcAft>
              <a:defRPr sz="1500"/>
            </a:pPr>
            <a:endParaRPr lang="en-US" dirty="0"/>
          </a:p>
          <a:p>
            <a:pPr>
              <a:spcAft>
                <a:spcPts val="600"/>
              </a:spcAft>
              <a:defRPr sz="1500"/>
            </a:pPr>
            <a:r>
              <a:rPr lang="en-US" dirty="0"/>
              <a:t>An “agent” – the programmatic logic that handles anything you might want to do with an LLM or based on the LLM’s responses. </a:t>
            </a:r>
          </a:p>
          <a:p>
            <a:pPr marL="285750" indent="-285750">
              <a:spcAft>
                <a:spcPts val="600"/>
              </a:spcAft>
              <a:buFont typeface="Arial" panose="020B0604020202020204" pitchFamily="34" charset="0"/>
              <a:buChar char="•"/>
              <a:defRPr sz="1500"/>
            </a:pPr>
            <a:r>
              <a:rPr lang="en-US" dirty="0"/>
              <a:t>Runs the loop of sending messages, executing requested tools (functions), sending results back, repeating until done. Again, the agent itself is </a:t>
            </a:r>
            <a:r>
              <a:rPr lang="en-US" b="1" dirty="0"/>
              <a:t>NOT</a:t>
            </a:r>
            <a:r>
              <a:rPr lang="en-US" dirty="0"/>
              <a:t> an LLM. </a:t>
            </a:r>
          </a:p>
          <a:p>
            <a:pPr marL="285750" indent="-285750">
              <a:spcAft>
                <a:spcPts val="600"/>
              </a:spcAft>
              <a:buFont typeface="Arial" panose="020B0604020202020204" pitchFamily="34" charset="0"/>
              <a:buChar char="•"/>
              <a:defRPr sz="1500"/>
            </a:pPr>
            <a:endParaRPr lang="en-US" dirty="0"/>
          </a:p>
          <a:p>
            <a:pPr>
              <a:spcAft>
                <a:spcPts val="600"/>
              </a:spcAft>
              <a:defRPr sz="1500"/>
            </a:pPr>
            <a:r>
              <a:rPr lang="en-US" dirty="0"/>
              <a:t>A “client” – this is effectively the channel of communication that takes input + context + prompt and feeds it to the LLM before passing the result back to the agent. </a:t>
            </a:r>
          </a:p>
          <a:p>
            <a:pPr>
              <a:spcAft>
                <a:spcPts val="600"/>
              </a:spcAft>
              <a:defRPr sz="1500"/>
            </a:pPr>
            <a:endParaRPr dirty="0"/>
          </a:p>
          <a:p>
            <a:pPr>
              <a:spcAft>
                <a:spcPts val="600"/>
              </a:spcAft>
              <a:defRPr sz="1500"/>
            </a:pPr>
            <a:r>
              <a:rPr lang="en-US" dirty="0"/>
              <a:t>An individual</a:t>
            </a:r>
            <a:r>
              <a:rPr dirty="0"/>
              <a:t> conversation </a:t>
            </a:r>
            <a:r>
              <a:rPr lang="en-US" dirty="0"/>
              <a:t>is none of </a:t>
            </a:r>
            <a:r>
              <a:rPr dirty="0"/>
              <a:t>these — it lives in a session (coming up).</a:t>
            </a:r>
          </a:p>
        </p:txBody>
      </p:sp>
      <p:pic>
        <p:nvPicPr>
          <p:cNvPr id="5" name="Picture 4" descr="image2.png">
            <a:extLst>
              <a:ext uri="{FF2B5EF4-FFF2-40B4-BE49-F238E27FC236}">
                <a16:creationId xmlns:a16="http://schemas.microsoft.com/office/drawing/2014/main" id="{CEE15341-9A4D-CB5C-74A4-C13564C921E6}"/>
              </a:ext>
            </a:extLst>
          </p:cNvPr>
          <p:cNvPicPr>
            <a:picLocks noChangeAspect="1"/>
          </p:cNvPicPr>
          <p:nvPr/>
        </p:nvPicPr>
        <p:blipFill>
          <a:blip r:embed="rId3"/>
          <a:stretch>
            <a:fillRect/>
          </a:stretch>
        </p:blipFill>
        <p:spPr>
          <a:xfrm>
            <a:off x="6126480" y="1005840"/>
            <a:ext cx="5163596" cy="5212080"/>
          </a:xfrm>
          <a:prstGeom prst="rect">
            <a:avLst/>
          </a:prstGeom>
        </p:spPr>
      </p:pic>
      <p:sp>
        <p:nvSpPr>
          <p:cNvPr id="7" name="TextBox 6">
            <a:extLst>
              <a:ext uri="{FF2B5EF4-FFF2-40B4-BE49-F238E27FC236}">
                <a16:creationId xmlns:a16="http://schemas.microsoft.com/office/drawing/2014/main" id="{D8766D7B-6723-BE9E-2132-427BBFF7E879}"/>
              </a:ext>
            </a:extLst>
          </p:cNvPr>
          <p:cNvSpPr txBox="1"/>
          <p:nvPr/>
        </p:nvSpPr>
        <p:spPr>
          <a:xfrm>
            <a:off x="457200" y="228600"/>
            <a:ext cx="5040739" cy="553998"/>
          </a:xfrm>
          <a:prstGeom prst="rect">
            <a:avLst/>
          </a:prstGeom>
          <a:noFill/>
        </p:spPr>
        <p:txBody>
          <a:bodyPr wrap="none">
            <a:spAutoFit/>
          </a:bodyPr>
          <a:lstStyle/>
          <a:p>
            <a:pPr>
              <a:defRPr sz="3000" b="1"/>
            </a:pPr>
            <a:r>
              <a:rPr lang="en-US" dirty="0"/>
              <a:t>What specifically is it built on?</a:t>
            </a:r>
            <a:endParaRPr dirty="0"/>
          </a:p>
        </p:txBody>
      </p:sp>
      <p:sp>
        <p:nvSpPr>
          <p:cNvPr id="4" name="TextBox 3">
            <a:extLst>
              <a:ext uri="{FF2B5EF4-FFF2-40B4-BE49-F238E27FC236}">
                <a16:creationId xmlns:a16="http://schemas.microsoft.com/office/drawing/2014/main" id="{11017610-09DC-F53D-1D86-A09FE6CB577D}"/>
              </a:ext>
            </a:extLst>
          </p:cNvPr>
          <p:cNvSpPr txBox="1"/>
          <p:nvPr/>
        </p:nvSpPr>
        <p:spPr>
          <a:xfrm>
            <a:off x="457200" y="5760720"/>
            <a:ext cx="5262403" cy="1015663"/>
          </a:xfrm>
          <a:prstGeom prst="rect">
            <a:avLst/>
          </a:prstGeom>
          <a:noFill/>
        </p:spPr>
        <p:txBody>
          <a:bodyPr wrap="square">
            <a:spAutoFit/>
          </a:bodyPr>
          <a:lstStyle/>
          <a:p>
            <a:pPr>
              <a:spcAft>
                <a:spcPts val="600"/>
              </a:spcAft>
              <a:defRPr sz="1500"/>
            </a:pPr>
            <a:r>
              <a:rPr lang="en-US" sz="1500" dirty="0"/>
              <a:t>Everything builds from two central things: the base </a:t>
            </a:r>
            <a:r>
              <a:rPr lang="en-US" sz="1500" dirty="0" err="1"/>
              <a:t>AIAgent</a:t>
            </a:r>
            <a:r>
              <a:rPr lang="en-US" sz="1500" dirty="0"/>
              <a:t> class which creates session(s) and runs tasks, like the service contract; </a:t>
            </a:r>
            <a:r>
              <a:rPr lang="en-US" sz="1500" dirty="0" err="1"/>
              <a:t>IChatClient</a:t>
            </a:r>
            <a:r>
              <a:rPr lang="en-US" sz="1500" dirty="0"/>
              <a:t> (or </a:t>
            </a:r>
            <a:r>
              <a:rPr lang="en-US" sz="1500" dirty="0" err="1"/>
              <a:t>IEmbeddingGenerator</a:t>
            </a:r>
            <a:r>
              <a:rPr lang="en-US" sz="1500" dirty="0"/>
              <a:t>) is the contract for answering chat requests</a:t>
            </a:r>
          </a:p>
        </p:txBody>
      </p:sp>
    </p:spTree>
    <p:extLst>
      <p:ext uri="{BB962C8B-B14F-4D97-AF65-F5344CB8AC3E}">
        <p14:creationId xmlns:p14="http://schemas.microsoft.com/office/powerpoint/2010/main" val="3481332741"/>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The big picture — the ChatClientAgent pipeline</a:t>
            </a:r>
          </a:p>
        </p:txBody>
      </p:sp>
      <p:sp>
        <p:nvSpPr>
          <p:cNvPr id="3" name="TextBox 2"/>
          <p:cNvSpPr txBox="1"/>
          <p:nvPr/>
        </p:nvSpPr>
        <p:spPr>
          <a:xfrm>
            <a:off x="457200" y="960120"/>
            <a:ext cx="11247120" cy="1234440"/>
          </a:xfrm>
          <a:prstGeom prst="rect">
            <a:avLst/>
          </a:prstGeom>
          <a:noFill/>
        </p:spPr>
        <p:txBody>
          <a:bodyPr wrap="square">
            <a:spAutoFit/>
          </a:bodyPr>
          <a:lstStyle/>
          <a:p>
            <a:pPr>
              <a:spcAft>
                <a:spcPts val="600"/>
              </a:spcAft>
              <a:defRPr sz="1400"/>
            </a:pPr>
            <a:r>
              <a:t>• Two contracts anchor everything: AIAgent — what an agent IS (run, sessions, serialize; the base every agent type inherits) — and IChatClient — how a model is reached (messages in, response out). ChatClientAgent INHERITS the first and COMPOSES the second.</a:t>
            </a:r>
          </a:p>
          <a:p>
            <a:pPr>
              <a:spcAft>
                <a:spcPts val="600"/>
              </a:spcAft>
              <a:defRPr sz="1400"/>
            </a:pPr>
            <a:r>
              <a:t>• This picture is the whole machine. The next four slides build it from the inside out: wire client → construction line → constructor wiring → one full run.</a:t>
            </a:r>
          </a:p>
        </p:txBody>
      </p:sp>
      <p:pic>
        <p:nvPicPr>
          <p:cNvPr id="4" name="Picture 3" descr="image.png"/>
          <p:cNvPicPr>
            <a:picLocks noChangeAspect="1"/>
          </p:cNvPicPr>
          <p:nvPr/>
        </p:nvPicPr>
        <p:blipFill>
          <a:blip r:embed="rId2"/>
          <a:stretch>
            <a:fillRect/>
          </a:stretch>
        </p:blipFill>
        <p:spPr>
          <a:xfrm>
            <a:off x="2286000" y="2240280"/>
            <a:ext cx="7589520" cy="4210440"/>
          </a:xfrm>
          <a:prstGeom prst="rect">
            <a:avLst/>
          </a:prstGeom>
        </p:spPr>
      </p:pic>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REFERENCE · TRACE.md — this picture as two tables (construction + run), with file + line for every hop.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Step 1 — the wire client (a concrete IChatClient)</a:t>
            </a:r>
          </a:p>
        </p:txBody>
      </p:sp>
      <p:sp>
        <p:nvSpPr>
          <p:cNvPr id="3" name="TextBox 2"/>
          <p:cNvSpPr txBox="1"/>
          <p:nvPr/>
        </p:nvSpPr>
        <p:spPr>
          <a:xfrm>
            <a:off x="457200" y="2834640"/>
            <a:ext cx="11247120" cy="3383280"/>
          </a:xfrm>
          <a:prstGeom prst="rect">
            <a:avLst/>
          </a:prstGeom>
          <a:noFill/>
        </p:spPr>
        <p:txBody>
          <a:bodyPr wrap="square">
            <a:spAutoFit/>
          </a:bodyPr>
          <a:lstStyle/>
          <a:p>
            <a:pPr>
              <a:spcAft>
                <a:spcPts val="600"/>
              </a:spcAft>
              <a:defRPr sz="1400"/>
            </a:pPr>
            <a:r>
              <a:t>• (1) The Azure SDK's service client — knows WHERE (endpoint) and WHO (key), speaks Azure's REST. Provider-specific.</a:t>
            </a:r>
          </a:p>
          <a:p>
            <a:pPr>
              <a:spcAft>
                <a:spcPts val="600"/>
              </a:spcAft>
              <a:defRPr sz="1400"/>
            </a:pPr>
            <a:r>
              <a:t>• (2) Narrows the service to one model deployment. Still the SDK's native type, not the neutral abstraction.</a:t>
            </a:r>
          </a:p>
          <a:p>
            <a:pPr>
              <a:spcAft>
                <a:spcPts val="600"/>
              </a:spcAft>
              <a:defRPr sz="1400"/>
            </a:pPr>
            <a:r>
              <a:t>• (3) .AsIChatClient() — the adapter. From this point on the code is provider-agnostic: Ollama and Claude reach this same line through their own hops 1–2, and everything after never changes.</a:t>
            </a:r>
          </a:p>
          <a:p>
            <a:pPr>
              <a:spcAft>
                <a:spcPts val="600"/>
              </a:spcAft>
              <a:defRPr sz="1400"/>
            </a:pPr>
            <a:r>
              <a:t>• (4) The raw wire call: you hand it the FULL message list (no history kept for you, no tools, no loop) and get one neutral ChatResponse back for one HTTPS round trip. This object is the innermost box of every pipeline that follows — nothing below it but the network.</a:t>
            </a:r>
          </a:p>
          <a:p>
            <a:pPr>
              <a:spcAft>
                <a:spcPts val="600"/>
              </a:spcAft>
              <a:defRPr sz="1400"/>
            </a:pPr>
            <a:r>
              <a:t>• Sibling abstraction for embeddings: IEmbeddingGenerator — same idea, vectors instead of chat (RAG/memory, later).</a:t>
            </a:r>
          </a:p>
        </p:txBody>
      </p:sp>
      <p:sp>
        <p:nvSpPr>
          <p:cNvPr id="4" name="TextBox 3"/>
          <p:cNvSpPr txBox="1"/>
          <p:nvPr/>
        </p:nvSpPr>
        <p:spPr>
          <a:xfrm>
            <a:off x="457200" y="1051560"/>
            <a:ext cx="9692640" cy="1600200"/>
          </a:xfrm>
          <a:prstGeom prst="rect">
            <a:avLst/>
          </a:prstGeom>
          <a:solidFill>
            <a:srgbClr val="F4F4F4"/>
          </a:solidFill>
        </p:spPr>
        <p:txBody>
          <a:bodyPr wrap="none" lIns="101600" tIns="76200" rIns="101600" bIns="76200">
            <a:spAutoFit/>
          </a:bodyPr>
          <a:lstStyle/>
          <a:p>
            <a:pPr>
              <a:defRPr sz="1200">
                <a:latin typeface="Consolas"/>
              </a:defRPr>
            </a:pPr>
            <a:r>
              <a:t>IChatClient client =</a:t>
            </a:r>
          </a:p>
          <a:p>
            <a:pPr>
              <a:defRPr sz="1200">
                <a:latin typeface="Consolas"/>
              </a:defRPr>
            </a:pPr>
            <a:r>
              <a:t>    new AzureOpenAIClient(endpoint, new AzureKeyCredential(apiKey))  // (1) the service</a:t>
            </a:r>
          </a:p>
          <a:p>
            <a:pPr>
              <a:defRPr sz="1200">
                <a:latin typeface="Consolas"/>
              </a:defRPr>
            </a:pPr>
            <a:r>
              <a:t>        .GetChatClient("gpt-4o-mini")                                // (2) the model</a:t>
            </a:r>
          </a:p>
          <a:p>
            <a:pPr>
              <a:defRPr sz="1200">
                <a:latin typeface="Consolas"/>
              </a:defRPr>
            </a:pPr>
            <a:r>
              <a:t>        .AsIChatClient();                                            // (3) the adapter</a:t>
            </a:r>
          </a:p>
          <a:p>
            <a:pPr>
              <a:defRPr sz="1200">
                <a:latin typeface="Consolas"/>
              </a:defRPr>
            </a:pPr>
          </a:p>
          <a:p>
            <a:pPr>
              <a:defRPr sz="1200">
                <a:latin typeface="Consolas"/>
              </a:defRPr>
            </a:pPr>
            <a:r>
              <a:t>ChatResponse r = await client.GetResponseAsync(                      // (4) the raw call</a:t>
            </a:r>
          </a:p>
          <a:p>
            <a:pPr>
              <a:defRPr sz="1200">
                <a:latin typeface="Consolas"/>
              </a:defRPr>
            </a:pPr>
            <a:r>
              <a:t>    [new ChatMessage(ChatRole.User, "Any ambulances free near Lincroft?")]);</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REFERENCE · IChatClient.cs — GetResponseAsync / GetStreamingResponseAsync: the whole contract is two methods.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Step 2a — decoding the construction line</a:t>
            </a:r>
          </a:p>
        </p:txBody>
      </p:sp>
      <p:sp>
        <p:nvSpPr>
          <p:cNvPr id="3" name="TextBox 2"/>
          <p:cNvSpPr txBox="1"/>
          <p:nvPr/>
        </p:nvSpPr>
        <p:spPr>
          <a:xfrm>
            <a:off x="457200" y="1051560"/>
            <a:ext cx="8778240" cy="1234440"/>
          </a:xfrm>
          <a:prstGeom prst="rect">
            <a:avLst/>
          </a:prstGeom>
          <a:solidFill>
            <a:srgbClr val="F4F4F4"/>
          </a:solidFill>
        </p:spPr>
        <p:txBody>
          <a:bodyPr wrap="none" lIns="101600" tIns="76200">
            <a:spAutoFit/>
          </a:bodyPr>
          <a:lstStyle/>
          <a:p>
            <a:pPr>
              <a:defRPr sz="1300">
                <a:latin typeface="Consolas"/>
              </a:defRPr>
            </a:pPr>
            <a:r>
              <a:t>AIAgent agent =</a:t>
            </a:r>
          </a:p>
          <a:p>
            <a:pPr>
              <a:defRPr sz="1300">
                <a:latin typeface="Consolas"/>
              </a:defRPr>
            </a:pPr>
            <a:r>
              <a:t>    new AzureOpenAIClient(endpoint, credential)   // (1) the service</a:t>
            </a:r>
          </a:p>
          <a:p>
            <a:pPr>
              <a:defRPr sz="1300">
                <a:latin typeface="Consolas"/>
              </a:defRPr>
            </a:pPr>
            <a:r>
              <a:t>        .GetChatClient("gpt-4o-mini")             // (2) the model</a:t>
            </a:r>
          </a:p>
          <a:p>
            <a:pPr>
              <a:defRPr sz="1300">
                <a:latin typeface="Consolas"/>
              </a:defRPr>
            </a:pPr>
            <a:r>
              <a:t>        .AsAIAgent(options);                      // (3) adapt + build the agent</a:t>
            </a:r>
          </a:p>
        </p:txBody>
      </p:sp>
      <p:sp>
        <p:nvSpPr>
          <p:cNvPr id="4" name="TextBox 3"/>
          <p:cNvSpPr txBox="1"/>
          <p:nvPr/>
        </p:nvSpPr>
        <p:spPr>
          <a:xfrm>
            <a:off x="457200" y="2514600"/>
            <a:ext cx="11247120" cy="3657600"/>
          </a:xfrm>
          <a:prstGeom prst="rect">
            <a:avLst/>
          </a:prstGeom>
          <a:noFill/>
        </p:spPr>
        <p:txBody>
          <a:bodyPr wrap="square">
            <a:spAutoFit/>
          </a:bodyPr>
          <a:lstStyle/>
          <a:p>
            <a:pPr>
              <a:spcAft>
                <a:spcPts val="600"/>
              </a:spcAft>
              <a:defRPr sz="1400"/>
            </a:pPr>
            <a:r>
              <a:t>• (1) new AzureOpenAIClient(endpoint, credential) — the Azure SDK's service client. It knows WHERE (the endpoint) and WHO (the key) and speaks Azure's REST protocol. One per service; it can mint clients for any deployment on that endpoint. Not an IChatClient.</a:t>
            </a:r>
          </a:p>
          <a:p>
            <a:pPr>
              <a:spcAft>
                <a:spcPts val="600"/>
              </a:spcAft>
              <a:defRPr sz="1400"/>
            </a:pPr>
            <a:r>
              <a:t>• (2) .GetChatClient("gpt-4o-mini") — narrows the service to ONE model deployment. Returns the SDK's native chat client — still a provider-specific type, still not the neutral abstraction.</a:t>
            </a:r>
          </a:p>
          <a:p>
            <a:pPr>
              <a:spcAft>
                <a:spcPts val="600"/>
              </a:spcAft>
              <a:defRPr sz="1400"/>
            </a:pPr>
            <a:r>
              <a:t>• (3) .AsAIAgent(options) — two moves fused into one helper: adapt the native client to the neutral IChatClient, then construct a ChatClientAgent around it. Literally equivalent to .AsIChatClient() followed by new ChatClientAgent(client, options).</a:t>
            </a:r>
          </a:p>
          <a:p>
            <a:pPr>
              <a:spcAft>
                <a:spcPts val="600"/>
              </a:spcAft>
              <a:defRPr sz="1400"/>
            </a:pPr>
            <a:r>
              <a:t>• The declaration shape is scope-narrowing: service → model → neutral contract → agent. You can stop at any hop — stop after .AsIChatClient() and you have step 1's raw wire client, usable without any agent.</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If asked “why is it declared that way?” — each call narrows scope; AsAIAgent just fuses the adapt and construct hops. Ollama/Claude differ only in hops 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Step 2b — what the constructor wires up</a:t>
            </a:r>
          </a:p>
        </p:txBody>
      </p:sp>
      <p:sp>
        <p:nvSpPr>
          <p:cNvPr id="3" name="TextBox 2"/>
          <p:cNvSpPr txBox="1"/>
          <p:nvPr/>
        </p:nvSpPr>
        <p:spPr>
          <a:xfrm>
            <a:off x="457200" y="714025"/>
            <a:ext cx="6035040" cy="3291840"/>
          </a:xfrm>
          <a:prstGeom prst="rect">
            <a:avLst/>
          </a:prstGeom>
          <a:noFill/>
        </p:spPr>
        <p:txBody>
          <a:bodyPr wrap="square">
            <a:spAutoFit/>
          </a:bodyPr>
          <a:lstStyle/>
          <a:p>
            <a:pPr>
              <a:spcAft>
                <a:spcPts val="600"/>
              </a:spcAft>
              <a:defRPr sz="1500"/>
            </a:pPr>
            <a:r>
              <a:rPr dirty="0"/>
              <a:t>• </a:t>
            </a:r>
            <a:r>
              <a:rPr dirty="0" err="1"/>
              <a:t>ChatClientAgent</a:t>
            </a:r>
            <a:r>
              <a:rPr dirty="0"/>
              <a:t> inherits the </a:t>
            </a:r>
            <a:r>
              <a:rPr dirty="0" err="1"/>
              <a:t>AIAgent</a:t>
            </a:r>
            <a:r>
              <a:rPr dirty="0"/>
              <a:t> contract and composes the client from step 1. Construction is where the wrapping happens:</a:t>
            </a:r>
          </a:p>
          <a:p>
            <a:pPr lvl="1">
              <a:spcAft>
                <a:spcPts val="600"/>
              </a:spcAft>
              <a:defRPr sz="1400"/>
            </a:pPr>
            <a:r>
              <a:rPr dirty="0"/>
              <a:t>– the </a:t>
            </a:r>
            <a:r>
              <a:rPr dirty="0" err="1"/>
              <a:t>ctor</a:t>
            </a:r>
            <a:r>
              <a:rPr dirty="0"/>
              <a:t> takes your </a:t>
            </a:r>
            <a:r>
              <a:rPr dirty="0" err="1"/>
              <a:t>IChatClient</a:t>
            </a:r>
            <a:r>
              <a:rPr dirty="0"/>
              <a:t> + </a:t>
            </a:r>
            <a:r>
              <a:rPr dirty="0" err="1"/>
              <a:t>ChatClientAgentOptions</a:t>
            </a:r>
            <a:r>
              <a:rPr dirty="0"/>
              <a:t> (ChatClientAgent.cs:118)</a:t>
            </a:r>
          </a:p>
          <a:p>
            <a:pPr lvl="1">
              <a:spcAft>
                <a:spcPts val="600"/>
              </a:spcAft>
              <a:defRPr sz="1400"/>
            </a:pPr>
            <a:r>
              <a:rPr dirty="0"/>
              <a:t>– wraps it with default agent middleware — including the </a:t>
            </a:r>
            <a:r>
              <a:rPr dirty="0" err="1"/>
              <a:t>FunctionInvokingChatClient</a:t>
            </a:r>
            <a:r>
              <a:rPr dirty="0"/>
              <a:t> tool loop — unless </a:t>
            </a:r>
            <a:r>
              <a:rPr dirty="0" err="1"/>
              <a:t>UseProvidedChatClientAsIs</a:t>
            </a:r>
            <a:r>
              <a:rPr dirty="0"/>
              <a:t> = true (line 131)</a:t>
            </a:r>
          </a:p>
          <a:p>
            <a:pPr lvl="1">
              <a:spcAft>
                <a:spcPts val="600"/>
              </a:spcAft>
              <a:defRPr sz="1400"/>
            </a:pPr>
            <a:r>
              <a:rPr dirty="0"/>
              <a:t>– defaults the history store: options?.</a:t>
            </a:r>
            <a:r>
              <a:rPr dirty="0" err="1"/>
              <a:t>ChatHistoryProvider</a:t>
            </a:r>
            <a:r>
              <a:rPr dirty="0"/>
              <a:t> ?? new </a:t>
            </a:r>
            <a:r>
              <a:rPr dirty="0" err="1"/>
              <a:t>InMemoryChatHistoryProvider</a:t>
            </a:r>
            <a:r>
              <a:rPr dirty="0"/>
              <a:t>() (line 136)</a:t>
            </a:r>
          </a:p>
          <a:p>
            <a:pPr>
              <a:spcAft>
                <a:spcPts val="600"/>
              </a:spcAft>
              <a:defRPr sz="1500"/>
            </a:pPr>
            <a:r>
              <a:rPr dirty="0"/>
              <a:t>• So </a:t>
            </a:r>
            <a:r>
              <a:rPr dirty="0" err="1"/>
              <a:t>agent.ChatClient</a:t>
            </a:r>
            <a:r>
              <a:rPr dirty="0"/>
              <a:t> is already a decorated PIPELINE ending in your wire client — not the raw client you passed in.</a:t>
            </a:r>
          </a:p>
          <a:p>
            <a:pPr>
              <a:spcAft>
                <a:spcPts val="600"/>
              </a:spcAft>
              <a:defRPr sz="1500"/>
            </a:pPr>
            <a:r>
              <a:rPr dirty="0"/>
              <a:t>• Streaming (</a:t>
            </a:r>
            <a:r>
              <a:rPr dirty="0" err="1"/>
              <a:t>RunStreamingAsync</a:t>
            </a:r>
            <a:r>
              <a:rPr dirty="0"/>
              <a:t>) exists and is first-class; for our headless server-side use there is little reason to use it.</a:t>
            </a:r>
          </a:p>
        </p:txBody>
      </p:sp>
      <p:sp>
        <p:nvSpPr>
          <p:cNvPr id="4" name="TextBox 3"/>
          <p:cNvSpPr txBox="1"/>
          <p:nvPr/>
        </p:nvSpPr>
        <p:spPr>
          <a:xfrm>
            <a:off x="274320" y="4032819"/>
            <a:ext cx="6217920" cy="2308324"/>
          </a:xfrm>
          <a:prstGeom prst="rect">
            <a:avLst/>
          </a:prstGeom>
          <a:solidFill>
            <a:srgbClr val="F4F4F4"/>
          </a:solidFill>
        </p:spPr>
        <p:txBody>
          <a:bodyPr wrap="square" lIns="101600" tIns="76200" rIns="101600" bIns="76200">
            <a:spAutoFit/>
          </a:bodyPr>
          <a:lstStyle/>
          <a:p>
            <a:pPr>
              <a:defRPr sz="1000">
                <a:latin typeface="Consolas"/>
              </a:defRPr>
            </a:pPr>
            <a:r>
              <a:rPr dirty="0"/>
              <a:t>string </a:t>
            </a:r>
            <a:r>
              <a:rPr dirty="0" err="1"/>
              <a:t>apiKey</a:t>
            </a:r>
            <a:r>
              <a:rPr dirty="0"/>
              <a:t> = </a:t>
            </a:r>
            <a:r>
              <a:rPr dirty="0" err="1"/>
              <a:t>Environment.GetEnvironmentVariable</a:t>
            </a:r>
            <a:r>
              <a:rPr dirty="0"/>
              <a:t>("AZURE_OPENAI_API_KEY")!;</a:t>
            </a:r>
          </a:p>
          <a:p>
            <a:pPr>
              <a:defRPr sz="1000">
                <a:latin typeface="Consolas"/>
              </a:defRPr>
            </a:pPr>
            <a:endParaRPr dirty="0"/>
          </a:p>
          <a:p>
            <a:pPr>
              <a:defRPr sz="1000">
                <a:latin typeface="Consolas"/>
              </a:defRPr>
            </a:pPr>
            <a:r>
              <a:rPr dirty="0" err="1"/>
              <a:t>AIAgent</a:t>
            </a:r>
            <a:r>
              <a:rPr dirty="0"/>
              <a:t> agent = new </a:t>
            </a:r>
            <a:r>
              <a:rPr dirty="0" err="1"/>
              <a:t>AzureOpenAIClient</a:t>
            </a:r>
            <a:r>
              <a:rPr dirty="0"/>
              <a:t>(</a:t>
            </a:r>
          </a:p>
          <a:p>
            <a:pPr>
              <a:defRPr sz="1000">
                <a:latin typeface="Consolas"/>
              </a:defRPr>
            </a:pPr>
            <a:r>
              <a:rPr dirty="0"/>
              <a:t>        new Uri("https://squidopenai.openai.azure.com/"),</a:t>
            </a:r>
          </a:p>
          <a:p>
            <a:pPr>
              <a:defRPr sz="1000">
                <a:latin typeface="Consolas"/>
              </a:defRPr>
            </a:pPr>
            <a:r>
              <a:rPr dirty="0"/>
              <a:t>        new </a:t>
            </a:r>
            <a:r>
              <a:rPr dirty="0" err="1"/>
              <a:t>AzureKeyCredential</a:t>
            </a:r>
            <a:r>
              <a:rPr dirty="0"/>
              <a:t>(</a:t>
            </a:r>
            <a:r>
              <a:rPr dirty="0" err="1"/>
              <a:t>apiKey</a:t>
            </a:r>
            <a:r>
              <a:rPr dirty="0"/>
              <a:t>))</a:t>
            </a:r>
          </a:p>
          <a:p>
            <a:pPr>
              <a:defRPr sz="1000">
                <a:latin typeface="Consolas"/>
              </a:defRPr>
            </a:pPr>
            <a:r>
              <a:rPr dirty="0"/>
              <a:t>    .</a:t>
            </a:r>
            <a:r>
              <a:rPr dirty="0" err="1"/>
              <a:t>GetChatClient</a:t>
            </a:r>
            <a:r>
              <a:rPr dirty="0"/>
              <a:t>("gpt-4o-mini")</a:t>
            </a:r>
          </a:p>
          <a:p>
            <a:pPr>
              <a:defRPr sz="1000">
                <a:latin typeface="Consolas"/>
              </a:defRPr>
            </a:pPr>
            <a:r>
              <a:rPr dirty="0"/>
              <a:t>    .</a:t>
            </a:r>
            <a:r>
              <a:rPr dirty="0" err="1"/>
              <a:t>AsAIAgent</a:t>
            </a:r>
            <a:r>
              <a:rPr dirty="0"/>
              <a:t>(new </a:t>
            </a:r>
            <a:r>
              <a:rPr dirty="0" err="1"/>
              <a:t>ChatClientAgentOptions</a:t>
            </a:r>
            <a:endParaRPr dirty="0"/>
          </a:p>
          <a:p>
            <a:pPr>
              <a:defRPr sz="1000">
                <a:latin typeface="Consolas"/>
              </a:defRPr>
            </a:pPr>
            <a:r>
              <a:rPr dirty="0"/>
              <a:t>    {</a:t>
            </a:r>
          </a:p>
          <a:p>
            <a:pPr>
              <a:defRPr sz="1000">
                <a:latin typeface="Consolas"/>
              </a:defRPr>
            </a:pPr>
            <a:r>
              <a:rPr dirty="0"/>
              <a:t>        Name = "</a:t>
            </a:r>
            <a:r>
              <a:rPr dirty="0" err="1"/>
              <a:t>DispatchAgent</a:t>
            </a:r>
            <a:r>
              <a:rPr dirty="0"/>
              <a:t>",</a:t>
            </a:r>
          </a:p>
          <a:p>
            <a:pPr>
              <a:defRPr sz="1000">
                <a:latin typeface="Consolas"/>
              </a:defRPr>
            </a:pPr>
            <a:r>
              <a:rPr dirty="0"/>
              <a:t>        </a:t>
            </a:r>
            <a:r>
              <a:rPr dirty="0" err="1"/>
              <a:t>ChatOptions</a:t>
            </a:r>
            <a:r>
              <a:rPr dirty="0"/>
              <a:t> = new() { Instructions = "You are a city dispatch assistant." }</a:t>
            </a:r>
          </a:p>
          <a:p>
            <a:pPr>
              <a:defRPr sz="1000">
                <a:latin typeface="Consolas"/>
              </a:defRPr>
            </a:pPr>
            <a:r>
              <a:rPr dirty="0"/>
              <a:t>    });</a:t>
            </a:r>
          </a:p>
          <a:p>
            <a:pPr>
              <a:defRPr sz="1000">
                <a:latin typeface="Consolas"/>
              </a:defRPr>
            </a:pPr>
            <a:endParaRPr dirty="0"/>
          </a:p>
          <a:p>
            <a:pPr>
              <a:defRPr sz="1000">
                <a:latin typeface="Consolas"/>
              </a:defRPr>
            </a:pPr>
            <a:r>
              <a:rPr dirty="0" err="1"/>
              <a:t>AgentResponse</a:t>
            </a:r>
            <a:r>
              <a:rPr dirty="0"/>
              <a:t> response = await </a:t>
            </a:r>
            <a:r>
              <a:rPr dirty="0" err="1"/>
              <a:t>agent.RunAsync</a:t>
            </a:r>
            <a:r>
              <a:rPr dirty="0"/>
              <a:t>("Any ambulances free near Lincroft?");</a:t>
            </a:r>
          </a:p>
          <a:p>
            <a:pPr>
              <a:defRPr sz="1000">
                <a:latin typeface="Consolas"/>
              </a:defRPr>
            </a:pPr>
            <a:r>
              <a:rPr dirty="0" err="1"/>
              <a:t>Console.WriteLine</a:t>
            </a:r>
            <a:r>
              <a:rPr dirty="0"/>
              <a:t>(</a:t>
            </a:r>
            <a:r>
              <a:rPr dirty="0" err="1"/>
              <a:t>response.Text</a:t>
            </a:r>
            <a:r>
              <a:rPr dirty="0"/>
              <a:t>);</a:t>
            </a:r>
          </a:p>
        </p:txBody>
      </p:sp>
      <p:pic>
        <p:nvPicPr>
          <p:cNvPr id="5" name="Picture 4" descr="image3.png"/>
          <p:cNvPicPr>
            <a:picLocks noChangeAspect="1"/>
          </p:cNvPicPr>
          <p:nvPr/>
        </p:nvPicPr>
        <p:blipFill>
          <a:blip r:embed="rId2"/>
          <a:stretch>
            <a:fillRect/>
          </a:stretch>
        </p:blipFill>
        <p:spPr>
          <a:xfrm>
            <a:off x="6675120" y="1051560"/>
            <a:ext cx="5120640" cy="5105568"/>
          </a:xfrm>
          <a:prstGeom prst="rect">
            <a:avLst/>
          </a:prstGeom>
        </p:spPr>
      </p:pic>
      <p:sp>
        <p:nvSpPr>
          <p:cNvPr id="6" name="TextBox 5"/>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REFERENCE · ChatClientAgent.cs lines 118 / 131 / 136 + TRACE.md construction table.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Step 3 — one run, hop by hop</a:t>
            </a:r>
          </a:p>
        </p:txBody>
      </p:sp>
      <p:sp>
        <p:nvSpPr>
          <p:cNvPr id="3" name="TextBox 2"/>
          <p:cNvSpPr txBox="1"/>
          <p:nvPr/>
        </p:nvSpPr>
        <p:spPr>
          <a:xfrm>
            <a:off x="457200" y="1005840"/>
            <a:ext cx="11247120" cy="5029200"/>
          </a:xfrm>
          <a:prstGeom prst="rect">
            <a:avLst/>
          </a:prstGeom>
          <a:noFill/>
        </p:spPr>
        <p:txBody>
          <a:bodyPr wrap="square">
            <a:spAutoFit/>
          </a:bodyPr>
          <a:lstStyle/>
          <a:p>
            <a:pPr>
              <a:spcAft>
                <a:spcPts val="600"/>
              </a:spcAft>
              <a:defRPr sz="1400"/>
            </a:pPr>
            <a:r>
              <a:t>• This is the big-picture slide traversed left to right, one hop at a time:</a:t>
            </a:r>
          </a:p>
          <a:p>
            <a:pPr>
              <a:spcAft>
                <a:spcPts val="600"/>
              </a:spcAft>
              <a:defRPr sz="1400"/>
            </a:pPr>
            <a:r>
              <a:t>• RunAsync overloads normalize your input — string, messages, or nothing (AIAgent.cs:251-334) → abstract RunCoreAsync hands off to the concrete agent (:366).</a:t>
            </a:r>
          </a:p>
          <a:p>
            <a:pPr>
              <a:spcAft>
                <a:spcPts val="600"/>
              </a:spcAft>
              <a:defRPr sz="1400"/>
            </a:pPr>
            <a:r>
              <a:t>• ChatClientAgent prepares the turn: pulls history via ChatHistoryProvider.InvokingAsync (:1040), injects extra context via each AIContextProvider (:784).</a:t>
            </a:r>
          </a:p>
          <a:p>
            <a:pPr>
              <a:spcAft>
                <a:spcPts val="600"/>
              </a:spcAft>
              <a:defRPr sz="1400"/>
            </a:pPr>
            <a:r>
              <a:t>• THE send is one line — chatClient.GetResponseAsync(...) (ChatClientAgent.cs:233) — one call into the decorated pipeline from step 2b.</a:t>
            </a:r>
          </a:p>
          <a:p>
            <a:pPr>
              <a:spcAft>
                <a:spcPts val="600"/>
              </a:spcAft>
              <a:defRPr sz="1400"/>
            </a:pPr>
            <a:r>
              <a:t>• Inside the pipeline, FunctionInvokingChatClient loops (FunctionInvokingChatClient.cs:277): model requests a tool → your code runs → result appended → model called again — until no more requests. Only the innermost wire client ever touches the network.</a:t>
            </a:r>
          </a:p>
          <a:p>
            <a:pPr>
              <a:spcAft>
                <a:spcPts val="600"/>
              </a:spcAft>
              <a:defRPr sz="1400"/>
            </a:pPr>
            <a:r>
              <a:t>• On the way out: providers are notified (:486-527), history is stored, and everything returns as AgentResponse messages → typed content items.</a:t>
            </a:r>
          </a:p>
          <a:p>
            <a:pPr>
              <a:spcAft>
                <a:spcPts val="600"/>
              </a:spcAft>
              <a:defRPr sz="1400"/>
            </a:pPr>
            <a:r>
              <a:t>• Streaming is the same chain via RunStreamingAsync, yielding AgentResponseUpdate chunks instead of one AgentResponse.</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rPr dirty="0"/>
              <a:t>→ REFERENCE · TRACE.md run table — eight hops, each with file + 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Where state lives: sessions, messages, content</a:t>
            </a:r>
          </a:p>
        </p:txBody>
      </p:sp>
      <p:sp>
        <p:nvSpPr>
          <p:cNvPr id="3" name="TextBox 2"/>
          <p:cNvSpPr txBox="1"/>
          <p:nvPr/>
        </p:nvSpPr>
        <p:spPr>
          <a:xfrm>
            <a:off x="457200" y="1051560"/>
            <a:ext cx="5852160" cy="3108960"/>
          </a:xfrm>
          <a:prstGeom prst="rect">
            <a:avLst/>
          </a:prstGeom>
          <a:noFill/>
        </p:spPr>
        <p:txBody>
          <a:bodyPr wrap="square">
            <a:spAutoFit/>
          </a:bodyPr>
          <a:lstStyle/>
          <a:p>
            <a:pPr>
              <a:spcAft>
                <a:spcPts val="600"/>
              </a:spcAft>
              <a:defRPr sz="1500"/>
            </a:pPr>
            <a:r>
              <a:t>• The agent is stateless; the AgentSession is the conversation. Same session → the model sees history; no session → blank slate every call.</a:t>
            </a:r>
          </a:p>
          <a:p>
            <a:pPr>
              <a:spcAft>
                <a:spcPts val="600"/>
              </a:spcAft>
              <a:defRPr sz="1500"/>
            </a:pPr>
            <a:r>
              <a:t>• One run can return several messages (tool calls, tool results, final answer). response.Text concatenates just the text; the real data is Messages → Contents.</a:t>
            </a:r>
          </a:p>
          <a:p>
            <a:pPr>
              <a:spcAft>
                <a:spcPts val="600"/>
              </a:spcAft>
              <a:defRPr sz="1500"/>
            </a:pPr>
            <a:r>
              <a:t>• Content items are typed: TextContent, DataContent, UriContent, FunctionCallContent, FunctionResultContent. Non-streaming = AgentResponse.Messages; streaming = AgentResponseUpdate.Contents.</a:t>
            </a:r>
          </a:p>
        </p:txBody>
      </p:sp>
      <p:sp>
        <p:nvSpPr>
          <p:cNvPr id="4" name="TextBox 3"/>
          <p:cNvSpPr txBox="1"/>
          <p:nvPr/>
        </p:nvSpPr>
        <p:spPr>
          <a:xfrm>
            <a:off x="457201" y="4297680"/>
            <a:ext cx="5852160" cy="1384995"/>
          </a:xfrm>
          <a:prstGeom prst="rect">
            <a:avLst/>
          </a:prstGeom>
          <a:solidFill>
            <a:srgbClr val="F4F4F4"/>
          </a:solidFill>
        </p:spPr>
        <p:txBody>
          <a:bodyPr wrap="square" lIns="101600" tIns="76200" rIns="101600" bIns="76200">
            <a:spAutoFit/>
          </a:bodyPr>
          <a:lstStyle/>
          <a:p>
            <a:pPr>
              <a:defRPr sz="1000">
                <a:latin typeface="Consolas"/>
              </a:defRPr>
            </a:pPr>
            <a:r>
              <a:t>AgentSession session = await agent.CreateSessionAsync();</a:t>
            </a:r>
          </a:p>
          <a:p>
            <a:pPr>
              <a:defRPr sz="1000">
                <a:latin typeface="Consolas"/>
              </a:defRPr>
            </a:pPr>
            <a:endParaRPr/>
          </a:p>
          <a:p>
            <a:pPr>
              <a:defRPr sz="1000">
                <a:latin typeface="Consolas"/>
              </a:defRPr>
            </a:pPr>
            <a:r>
              <a:t>await agent.RunAsync("Report a fire at the Lincroft warehouse, high priority.", session);</a:t>
            </a:r>
          </a:p>
          <a:p>
            <a:pPr>
              <a:defRPr sz="1000">
                <a:latin typeface="Consolas"/>
              </a:defRPr>
            </a:pPr>
            <a:endParaRPr/>
          </a:p>
          <a:p>
            <a:pPr>
              <a:defRPr sz="1000">
                <a:latin typeface="Consolas"/>
              </a:defRPr>
            </a:pPr>
            <a:r>
              <a:t>// turn 2 needs turn 1's context — "it" resolves via the session's history</a:t>
            </a:r>
          </a:p>
          <a:p>
            <a:pPr>
              <a:defRPr sz="1000">
                <a:latin typeface="Consolas"/>
              </a:defRPr>
            </a:pPr>
            <a:r>
              <a:t>AgentResponse r2 = await agent.RunAsync("Send the nearest fire unit to it.", session);</a:t>
            </a:r>
          </a:p>
        </p:txBody>
      </p:sp>
      <p:pic>
        <p:nvPicPr>
          <p:cNvPr id="5" name="Picture 4" descr="image4.png"/>
          <p:cNvPicPr>
            <a:picLocks noChangeAspect="1"/>
          </p:cNvPicPr>
          <p:nvPr/>
        </p:nvPicPr>
        <p:blipFill>
          <a:blip r:embed="rId2"/>
          <a:stretch>
            <a:fillRect/>
          </a:stretch>
        </p:blipFill>
        <p:spPr>
          <a:xfrm>
            <a:off x="6492240" y="1051560"/>
            <a:ext cx="5303520" cy="3515648"/>
          </a:xfrm>
          <a:prstGeom prst="rect">
            <a:avLst/>
          </a:prstGeom>
        </p:spPr>
      </p:pic>
      <p:sp>
        <p:nvSpPr>
          <p:cNvPr id="6" name="TextBox 5"/>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Session &amp; REPL · AgentSession.cs: StateBag; AgentResponse.cs: Text / Usage. Run: same question with and without a session.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Context — history + injection</a:t>
            </a:r>
          </a:p>
        </p:txBody>
      </p:sp>
      <p:sp>
        <p:nvSpPr>
          <p:cNvPr id="3" name="TextBox 2"/>
          <p:cNvSpPr txBox="1"/>
          <p:nvPr/>
        </p:nvSpPr>
        <p:spPr>
          <a:xfrm>
            <a:off x="457200" y="1051560"/>
            <a:ext cx="5852160" cy="3291840"/>
          </a:xfrm>
          <a:prstGeom prst="rect">
            <a:avLst/>
          </a:prstGeom>
          <a:noFill/>
        </p:spPr>
        <p:txBody>
          <a:bodyPr wrap="square">
            <a:spAutoFit/>
          </a:bodyPr>
          <a:lstStyle/>
          <a:p>
            <a:pPr>
              <a:spcAft>
                <a:spcPts val="600"/>
              </a:spcAft>
              <a:defRPr sz="1500"/>
            </a:pPr>
            <a:r>
              <a:t>• Two hooks on ChatClientAgent: one ChatHistoryProvider (the conversation store) + a list of AIContextProviders (inject extra context before every model call).</a:t>
            </a:r>
          </a:p>
          <a:p>
            <a:pPr>
              <a:spcAft>
                <a:spcPts val="600"/>
              </a:spcAft>
              <a:defRPr sz="1500"/>
            </a:pPr>
            <a:r>
              <a:t>• History tiers:</a:t>
            </a:r>
          </a:p>
          <a:p>
            <a:pPr lvl="1">
              <a:spcAft>
                <a:spcPts val="600"/>
              </a:spcAft>
              <a:defRPr sz="1400"/>
            </a:pPr>
            <a:r>
              <a:t>– InMemoryChatHistoryProvider — the automatic default; zero setup, gone when the process exits.</a:t>
            </a:r>
          </a:p>
          <a:p>
            <a:pPr lvl="1">
              <a:spcAft>
                <a:spcPts val="600"/>
              </a:spcAft>
              <a:defRPr sz="1400"/>
            </a:pPr>
            <a:r>
              <a:t>– Custom ChatHistoryProvider — persist to our own store (file, DB). The in-house end state.</a:t>
            </a:r>
          </a:p>
          <a:p>
            <a:pPr lvl="1">
              <a:spcAft>
                <a:spcPts val="600"/>
              </a:spcAft>
              <a:defRPr sz="1400"/>
            </a:pPr>
            <a:r>
              <a:t>– Azure service-stored threads — persistent context with zero storage code; the conversation lives server-side. The shortcut to the harder, relevant capability while we learn.</a:t>
            </a:r>
          </a:p>
        </p:txBody>
      </p:sp>
      <p:sp>
        <p:nvSpPr>
          <p:cNvPr id="4" name="TextBox 3"/>
          <p:cNvSpPr txBox="1"/>
          <p:nvPr/>
        </p:nvSpPr>
        <p:spPr>
          <a:xfrm>
            <a:off x="457200" y="4434840"/>
            <a:ext cx="8961120" cy="1828800"/>
          </a:xfrm>
          <a:prstGeom prst="rect">
            <a:avLst/>
          </a:prstGeom>
          <a:solidFill>
            <a:srgbClr val="F4F4F4"/>
          </a:solidFill>
        </p:spPr>
        <p:txBody>
          <a:bodyPr wrap="none" lIns="101600" tIns="76200" rIns="101600" bIns="76200">
            <a:spAutoFit/>
          </a:bodyPr>
          <a:lstStyle/>
          <a:p>
            <a:pPr>
              <a:defRPr sz="1000">
                <a:latin typeface="Consolas"/>
              </a:defRPr>
            </a:pPr>
            <a:r>
              <a:t>// Injected fresh before EVERY model call — the model always sees live unit state.</a:t>
            </a:r>
          </a:p>
          <a:p>
            <a:pPr>
              <a:defRPr sz="1000">
                <a:latin typeface="Consolas"/>
              </a:defRPr>
            </a:pPr>
            <a:r>
              <a:t>sealed class UnitRosterProvider(DispatchCenter dispatch) : MessageAIContextProvider</a:t>
            </a:r>
          </a:p>
          <a:p>
            <a:pPr>
              <a:defRPr sz="1000">
                <a:latin typeface="Consolas"/>
              </a:defRPr>
            </a:pPr>
            <a:r>
              <a:t>{</a:t>
            </a:r>
          </a:p>
          <a:p>
            <a:pPr>
              <a:defRPr sz="1000">
                <a:latin typeface="Consolas"/>
              </a:defRPr>
            </a:pPr>
            <a:r>
              <a:t>    protected override ValueTask&lt;IEnumerable&lt;ChatMessage&gt;&gt; ProvideMessagesAsync(</a:t>
            </a:r>
          </a:p>
          <a:p>
            <a:pPr>
              <a:defRPr sz="1000">
                <a:latin typeface="Consolas"/>
              </a:defRPr>
            </a:pPr>
            <a:r>
              <a:t>        InvokingContext context, CancellationToken ct = default)</a:t>
            </a:r>
          </a:p>
          <a:p>
            <a:pPr>
              <a:defRPr sz="1000">
                <a:latin typeface="Consolas"/>
              </a:defRPr>
            </a:pPr>
            <a:r>
              <a:t>        =&gt; new([new ChatMessage(ChatRole.User,</a:t>
            </a:r>
          </a:p>
          <a:p>
            <a:pPr>
              <a:defRPr sz="1000">
                <a:latin typeface="Consolas"/>
              </a:defRPr>
            </a:pPr>
            <a:r>
              <a:t>            "Current units:\n" + string.Join("\n",</a:t>
            </a:r>
          </a:p>
          <a:p>
            <a:pPr>
              <a:defRPr sz="1000">
                <a:latin typeface="Consolas"/>
              </a:defRPr>
            </a:pPr>
            <a:r>
              <a:t>                dispatch.GetUnits().Select(u =&gt; $"{u.Id} {u.Type} [{u.Status}]")))]);</a:t>
            </a:r>
          </a:p>
          <a:p>
            <a:pPr>
              <a:defRPr sz="1000">
                <a:latin typeface="Consolas"/>
              </a:defRPr>
            </a:pPr>
            <a:r>
              <a:t>}</a:t>
            </a:r>
          </a:p>
          <a:p>
            <a:pPr>
              <a:defRPr sz="1000">
                <a:latin typeface="Consolas"/>
              </a:defRPr>
            </a:pPr>
            <a:endParaRPr/>
          </a:p>
          <a:p>
            <a:pPr>
              <a:defRPr sz="1000">
                <a:latin typeface="Consolas"/>
              </a:defRPr>
            </a:pPr>
            <a:r>
              <a:t>AIContextProviders = [new UnitRosterProvider(dispatch)]   // in the agent options</a:t>
            </a:r>
          </a:p>
        </p:txBody>
      </p:sp>
      <p:pic>
        <p:nvPicPr>
          <p:cNvPr id="5" name="Picture 4" descr="image6.png"/>
          <p:cNvPicPr>
            <a:picLocks noChangeAspect="1"/>
          </p:cNvPicPr>
          <p:nvPr/>
        </p:nvPicPr>
        <p:blipFill>
          <a:blip r:embed="rId2"/>
          <a:stretch>
            <a:fillRect/>
          </a:stretch>
        </p:blipFill>
        <p:spPr>
          <a:xfrm>
            <a:off x="6492240" y="1051560"/>
            <a:ext cx="5303520" cy="2795507"/>
          </a:xfrm>
          <a:prstGeom prst="rect">
            <a:avLst/>
          </a:prstGeom>
        </p:spPr>
      </p:pic>
      <p:sp>
        <p:nvSpPr>
          <p:cNvPr id="6" name="TextBox 5"/>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Context providers · hooks: ChatClientAgent.cs ChatHistoryProvider / AIContextProviders. Run the keyed lookup; RAG on demand.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Tools</a:t>
            </a:r>
          </a:p>
        </p:txBody>
      </p:sp>
      <p:sp>
        <p:nvSpPr>
          <p:cNvPr id="3" name="TextBox 2"/>
          <p:cNvSpPr txBox="1"/>
          <p:nvPr/>
        </p:nvSpPr>
        <p:spPr>
          <a:xfrm>
            <a:off x="457200" y="1097280"/>
            <a:ext cx="11247120" cy="1785104"/>
          </a:xfrm>
          <a:prstGeom prst="rect">
            <a:avLst/>
          </a:prstGeom>
          <a:noFill/>
        </p:spPr>
        <p:txBody>
          <a:bodyPr wrap="square">
            <a:spAutoFit/>
          </a:bodyPr>
          <a:lstStyle/>
          <a:p>
            <a:pPr>
              <a:spcAft>
                <a:spcPts val="600"/>
              </a:spcAft>
              <a:defRPr sz="1500"/>
            </a:pPr>
            <a:r>
              <a:rPr dirty="0"/>
              <a:t>• A tool is a described C# capability: </a:t>
            </a:r>
            <a:r>
              <a:rPr dirty="0" err="1"/>
              <a:t>AIFunctionFactory.Create</a:t>
            </a:r>
            <a:r>
              <a:rPr dirty="0"/>
              <a:t>(method) turns the signature + [Description] attributes into the JSON schema the model sees. The descriptions ARE the model's API docs.</a:t>
            </a:r>
          </a:p>
          <a:p>
            <a:pPr>
              <a:spcAft>
                <a:spcPts val="600"/>
              </a:spcAft>
              <a:defRPr sz="1500"/>
            </a:pPr>
            <a:r>
              <a:rPr dirty="0"/>
              <a:t>• The model never executes anything — it emits a function-call request; the framework runs your code and feeds the result back into the loop.</a:t>
            </a:r>
          </a:p>
          <a:p>
            <a:pPr>
              <a:spcAft>
                <a:spcPts val="600"/>
              </a:spcAft>
              <a:defRPr sz="1500"/>
            </a:pPr>
            <a:r>
              <a:rPr dirty="0"/>
              <a:t>• Tools return .NET objects; the framework handles serialization. The same slot also covers MCP tools and service-hosted tools.</a:t>
            </a:r>
            <a:endParaRPr lang="en-US" dirty="0"/>
          </a:p>
          <a:p>
            <a:pPr>
              <a:spcAft>
                <a:spcPts val="600"/>
              </a:spcAft>
              <a:defRPr sz="1500"/>
            </a:pPr>
            <a:endParaRPr lang="en-US" dirty="0"/>
          </a:p>
          <a:p>
            <a:pPr>
              <a:spcAft>
                <a:spcPts val="600"/>
              </a:spcAft>
              <a:defRPr sz="1500"/>
            </a:pPr>
            <a:r>
              <a:rPr lang="en-US" dirty="0"/>
              <a:t>The descriptions exist so that the LLM can reason about what methods actually fit the goal it's looking to accomplish. </a:t>
            </a:r>
            <a:endParaRPr dirty="0"/>
          </a:p>
        </p:txBody>
      </p:sp>
      <p:sp>
        <p:nvSpPr>
          <p:cNvPr id="4" name="TextBox 3"/>
          <p:cNvSpPr txBox="1"/>
          <p:nvPr/>
        </p:nvSpPr>
        <p:spPr>
          <a:xfrm>
            <a:off x="457200" y="3383280"/>
            <a:ext cx="9326880" cy="2834640"/>
          </a:xfrm>
          <a:prstGeom prst="rect">
            <a:avLst/>
          </a:prstGeom>
          <a:solidFill>
            <a:srgbClr val="F4F4F4"/>
          </a:solidFill>
        </p:spPr>
        <p:txBody>
          <a:bodyPr wrap="none" lIns="101600" tIns="76200" rIns="101600" bIns="76200">
            <a:spAutoFit/>
          </a:bodyPr>
          <a:lstStyle/>
          <a:p>
            <a:pPr>
              <a:defRPr sz="1100">
                <a:latin typeface="Consolas"/>
              </a:defRPr>
            </a:pPr>
            <a:r>
              <a:t>[Description("Dispatch an available unit to an active incident.")]</a:t>
            </a:r>
          </a:p>
          <a:p>
            <a:pPr>
              <a:defRPr sz="1100">
                <a:latin typeface="Consolas"/>
              </a:defRPr>
            </a:pPr>
            <a:r>
              <a:t>static string DispatchUnit(</a:t>
            </a:r>
          </a:p>
          <a:p>
            <a:pPr>
              <a:defRPr sz="1100">
                <a:latin typeface="Consolas"/>
              </a:defRPr>
            </a:pPr>
            <a:r>
              <a:t>    [Description("The unit ID, e.g. POL111")] string unitId,</a:t>
            </a:r>
          </a:p>
          <a:p>
            <a:pPr>
              <a:defRPr sz="1100">
                <a:latin typeface="Consolas"/>
              </a:defRPr>
            </a:pPr>
            <a:r>
              <a:t>    [Description("The incident ID, e.g. INC-1000")] string incidentId)</a:t>
            </a:r>
          </a:p>
          <a:p>
            <a:pPr>
              <a:defRPr sz="1100">
                <a:latin typeface="Consolas"/>
              </a:defRPr>
            </a:pPr>
            <a:r>
              <a:t>    =&gt; dispatch.DisbatchUnit(unitId, incidentId)</a:t>
            </a:r>
          </a:p>
          <a:p>
            <a:pPr>
              <a:defRPr sz="1100">
                <a:latin typeface="Consolas"/>
              </a:defRPr>
            </a:pPr>
            <a:r>
              <a:t>        ? $"Unit {unitId} dispatched to {incidentId}."</a:t>
            </a:r>
          </a:p>
          <a:p>
            <a:pPr>
              <a:defRPr sz="1100">
                <a:latin typeface="Consolas"/>
              </a:defRPr>
            </a:pPr>
            <a:r>
              <a:t>        : "Dispatch failed — check unit availability.";</a:t>
            </a:r>
          </a:p>
          <a:p>
            <a:pPr>
              <a:defRPr sz="1100">
                <a:latin typeface="Consolas"/>
              </a:defRPr>
            </a:pPr>
            <a:endParaRPr/>
          </a:p>
          <a:p>
            <a:pPr>
              <a:defRPr sz="1100">
                <a:latin typeface="Consolas"/>
              </a:defRPr>
            </a:pPr>
            <a:r>
              <a:t>ChatOptions = new()</a:t>
            </a:r>
          </a:p>
          <a:p>
            <a:pPr>
              <a:defRPr sz="1100">
                <a:latin typeface="Consolas"/>
              </a:defRPr>
            </a:pPr>
            <a:r>
              <a:t>{</a:t>
            </a:r>
          </a:p>
          <a:p>
            <a:pPr>
              <a:defRPr sz="1100">
                <a:latin typeface="Consolas"/>
              </a:defRPr>
            </a:pPr>
            <a:r>
              <a:t>    Instructions = "You are a city dispatch assistant.",</a:t>
            </a:r>
          </a:p>
          <a:p>
            <a:pPr>
              <a:defRPr sz="1100">
                <a:latin typeface="Consolas"/>
              </a:defRPr>
            </a:pPr>
            <a:r>
              <a:t>    Tools = [AIFunctionFactory.Create(DispatchUnit)]</a:t>
            </a:r>
          </a:p>
          <a:p>
            <a:pPr>
              <a:defRPr sz="1100">
                <a:latin typeface="Consolas"/>
              </a:defRPr>
            </a:pPr>
            <a:r>
              <a:t>}</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Tools (the five dispatch tools) · AITool.cs: Name / Description. Run the tool beat + switch_model.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Tool approval — the human gate</a:t>
            </a:r>
          </a:p>
        </p:txBody>
      </p:sp>
      <p:sp>
        <p:nvSpPr>
          <p:cNvPr id="3" name="TextBox 2"/>
          <p:cNvSpPr txBox="1"/>
          <p:nvPr/>
        </p:nvSpPr>
        <p:spPr>
          <a:xfrm>
            <a:off x="457200" y="1097280"/>
            <a:ext cx="11247120" cy="1920240"/>
          </a:xfrm>
          <a:prstGeom prst="rect">
            <a:avLst/>
          </a:prstGeom>
          <a:noFill/>
        </p:spPr>
        <p:txBody>
          <a:bodyPr wrap="square">
            <a:spAutoFit/>
          </a:bodyPr>
          <a:lstStyle/>
          <a:p>
            <a:pPr>
              <a:spcAft>
                <a:spcPts val="600"/>
              </a:spcAft>
              <a:defRPr sz="1500"/>
            </a:pPr>
            <a:r>
              <a:t>• By default every tool runs without approval. Gating one is a one-line wrap: new ApprovalRequiredAIFunction(fn).</a:t>
            </a:r>
          </a:p>
          <a:p>
            <a:pPr>
              <a:spcAft>
                <a:spcPts val="600"/>
              </a:spcAft>
              <a:defRPr sz="1500"/>
            </a:pPr>
            <a:r>
              <a:t>• The run then pauses: instead of executing, it returns a ToolApprovalRequestContent (name + args). Your code decides, replies CreateResponse(true/false), the agent resumes on the same session.</a:t>
            </a:r>
          </a:p>
          <a:p>
            <a:pPr>
              <a:spcAft>
                <a:spcPts val="600"/>
              </a:spcAft>
              <a:defRPr sz="1500"/>
            </a:pPr>
            <a:r>
              <a:t>• Enforcement is in the host, not the prompt. Deny it and the tool never runs.</a:t>
            </a:r>
          </a:p>
        </p:txBody>
      </p:sp>
      <p:sp>
        <p:nvSpPr>
          <p:cNvPr id="4" name="TextBox 3"/>
          <p:cNvSpPr txBox="1"/>
          <p:nvPr/>
        </p:nvSpPr>
        <p:spPr>
          <a:xfrm>
            <a:off x="457200" y="3063240"/>
            <a:ext cx="9692640" cy="3200400"/>
          </a:xfrm>
          <a:prstGeom prst="rect">
            <a:avLst/>
          </a:prstGeom>
          <a:solidFill>
            <a:srgbClr val="F4F4F4"/>
          </a:solidFill>
        </p:spPr>
        <p:txBody>
          <a:bodyPr wrap="none" lIns="101600" tIns="76200" rIns="101600" bIns="76200">
            <a:spAutoFit/>
          </a:bodyPr>
          <a:lstStyle/>
          <a:p>
            <a:pPr>
              <a:defRPr sz="1000">
                <a:latin typeface="Consolas"/>
              </a:defRPr>
            </a:pPr>
            <a:r>
              <a:t>Tools =</a:t>
            </a:r>
          </a:p>
          <a:p>
            <a:pPr>
              <a:defRPr sz="1000">
                <a:latin typeface="Consolas"/>
              </a:defRPr>
            </a:pPr>
            <a:r>
              <a:t>[</a:t>
            </a:r>
          </a:p>
          <a:p>
            <a:pPr>
              <a:defRPr sz="1000">
                <a:latin typeface="Consolas"/>
              </a:defRPr>
            </a:pPr>
            <a:r>
              <a:t>    AIFunctionFactory.Create(GetStatus),                                     // free</a:t>
            </a:r>
          </a:p>
          <a:p>
            <a:pPr>
              <a:defRPr sz="1000">
                <a:latin typeface="Consolas"/>
              </a:defRPr>
            </a:pPr>
            <a:r>
              <a:t>    new ApprovalRequiredAIFunction(AIFunctionFactory.Create(DispatchUnit)),  // gated</a:t>
            </a:r>
          </a:p>
          <a:p>
            <a:pPr>
              <a:defRPr sz="1000">
                <a:latin typeface="Consolas"/>
              </a:defRPr>
            </a:pPr>
            <a:r>
              <a:t>]</a:t>
            </a:r>
          </a:p>
          <a:p>
            <a:pPr>
              <a:defRPr sz="1000">
                <a:latin typeface="Consolas"/>
              </a:defRPr>
            </a:pPr>
            <a:endParaRPr/>
          </a:p>
          <a:p>
            <a:pPr>
              <a:defRPr sz="1000">
                <a:latin typeface="Consolas"/>
              </a:defRPr>
            </a:pPr>
            <a:r>
              <a:t>var requests = response.Messages.SelectMany(m =&gt; m.Contents)</a:t>
            </a:r>
          </a:p>
          <a:p>
            <a:pPr>
              <a:defRPr sz="1000">
                <a:latin typeface="Consolas"/>
              </a:defRPr>
            </a:pPr>
            <a:r>
              <a:t>                       .OfType&lt;ToolApprovalRequestContent&gt;().ToList();</a:t>
            </a:r>
          </a:p>
          <a:p>
            <a:pPr>
              <a:defRPr sz="1000">
                <a:latin typeface="Consolas"/>
              </a:defRPr>
            </a:pPr>
            <a:r>
              <a:t>while (requests.Count &gt; 0)</a:t>
            </a:r>
          </a:p>
          <a:p>
            <a:pPr>
              <a:defRPr sz="1000">
                <a:latin typeface="Consolas"/>
              </a:defRPr>
            </a:pPr>
            <a:r>
              <a:t>{</a:t>
            </a:r>
          </a:p>
          <a:p>
            <a:pPr>
              <a:defRPr sz="1000">
                <a:latin typeface="Consolas"/>
              </a:defRPr>
            </a:pPr>
            <a:r>
              <a:t>    var replies = requests.ConvertAll(req =&gt; {</a:t>
            </a:r>
          </a:p>
          <a:p>
            <a:pPr>
              <a:defRPr sz="1000">
                <a:latin typeface="Consolas"/>
              </a:defRPr>
            </a:pPr>
            <a:r>
              <a:t>        var call = (FunctionCallContent)req.ToolCall;</a:t>
            </a:r>
          </a:p>
          <a:p>
            <a:pPr>
              <a:defRPr sz="1000">
                <a:latin typeface="Consolas"/>
              </a:defRPr>
            </a:pPr>
            <a:r>
              <a:t>        Console.Write($"Approve {call.Name}({call.Arguments})? (y/n): ");</a:t>
            </a:r>
          </a:p>
          <a:p>
            <a:pPr>
              <a:defRPr sz="1000">
                <a:latin typeface="Consolas"/>
              </a:defRPr>
            </a:pPr>
            <a:r>
              <a:t>        return new ChatMessage(ChatRole.User,</a:t>
            </a:r>
          </a:p>
          <a:p>
            <a:pPr>
              <a:defRPr sz="1000">
                <a:latin typeface="Consolas"/>
              </a:defRPr>
            </a:pPr>
            <a:r>
              <a:t>            [req.CreateResponse(Console.ReadLine()?.Trim() == "y")]);</a:t>
            </a:r>
          </a:p>
          <a:p>
            <a:pPr>
              <a:defRPr sz="1000">
                <a:latin typeface="Consolas"/>
              </a:defRPr>
            </a:pPr>
            <a:r>
              <a:t>    });</a:t>
            </a:r>
          </a:p>
          <a:p>
            <a:pPr>
              <a:defRPr sz="1000">
                <a:latin typeface="Consolas"/>
              </a:defRPr>
            </a:pPr>
            <a:r>
              <a:t>    response = await agent.RunAsync(replies, session);</a:t>
            </a:r>
          </a:p>
          <a:p>
            <a:pPr>
              <a:defRPr sz="1000">
                <a:latin typeface="Consolas"/>
              </a:defRPr>
            </a:pPr>
            <a:r>
              <a:t>    requests = response.Messages.SelectMany(m =&gt; m.Contents)</a:t>
            </a:r>
          </a:p>
          <a:p>
            <a:pPr>
              <a:defRPr sz="1000">
                <a:latin typeface="Consolas"/>
              </a:defRPr>
            </a:pPr>
            <a:r>
              <a:t>                       .OfType&lt;ToolApprovalRequestContent&gt;().ToList();</a:t>
            </a:r>
          </a:p>
          <a:p>
            <a:pPr>
              <a:defRPr sz="1000">
                <a:latin typeface="Consolas"/>
              </a:defRPr>
            </a:pPr>
            <a:r>
              <a:t>}</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Approval loop · live: “dispatch POL111 to INC-1000”, answer n, watch nothing execute. Approved actions can trigger further gated calls.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Aside: tool approval vs middleware</a:t>
            </a:r>
          </a:p>
        </p:txBody>
      </p:sp>
      <p:sp>
        <p:nvSpPr>
          <p:cNvPr id="3" name="TextBox 2"/>
          <p:cNvSpPr txBox="1"/>
          <p:nvPr/>
        </p:nvSpPr>
        <p:spPr>
          <a:xfrm>
            <a:off x="457200" y="1188720"/>
            <a:ext cx="11247120" cy="4754880"/>
          </a:xfrm>
          <a:prstGeom prst="rect">
            <a:avLst/>
          </a:prstGeom>
          <a:noFill/>
        </p:spPr>
        <p:txBody>
          <a:bodyPr wrap="square">
            <a:spAutoFit/>
          </a:bodyPr>
          <a:lstStyle/>
          <a:p>
            <a:pPr>
              <a:spcAft>
                <a:spcPts val="1000"/>
              </a:spcAft>
              <a:defRPr sz="1600"/>
            </a:pPr>
            <a:r>
              <a:t>• Different mechanisms. Middleware is automated in-process policy: your code decides synchronously while the run keeps executing — the model just gets the allow/refuse and continues.</a:t>
            </a:r>
          </a:p>
          <a:p>
            <a:pPr>
              <a:spcAft>
                <a:spcPts val="1000"/>
              </a:spcAft>
              <a:defRPr sz="1600"/>
            </a:pPr>
            <a:r>
              <a:t>• Tool approval is a suspension protocol: the run STOPS and returns early with a ToolApprovalRequestContent instead of a final answer. The decision happens outside the agent, on any timescale — a console y/n now, a button in a UI tomorrow — and you resume with CreateResponse on the same session.</a:t>
            </a:r>
          </a:p>
          <a:p>
            <a:pPr>
              <a:spcAft>
                <a:spcPts val="1000"/>
              </a:spcAft>
              <a:defRPr sz="1600"/>
            </a:pPr>
            <a:r>
              <a:t>• Mechanically, approval isn't middleware at all: it's a decorator on the tool itself (a wrapped AIFunction), and the suspend/resume rides the normal message-content channel.</a:t>
            </a:r>
          </a:p>
          <a:p>
            <a:pPr>
              <a:spcAft>
                <a:spcPts val="1000"/>
              </a:spcAft>
              <a:defRPr sz="1600"/>
            </a:pPr>
            <a:r>
              <a:t>• They compose. Middleware for what should never or always run (hard policy, no human); approval for what needs judgment. The harness wires its standing approval rules in via an agent-level decorator that manages when the suspension fires.</a:t>
            </a:r>
          </a:p>
        </p:txBody>
      </p:sp>
      <p:sp>
        <p:nvSpPr>
          <p:cNvPr id="4" name="TextBox 3"/>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If asked “couldn't middleware do approval?” — it can block/allow automatically; the pause-and-ask-a-human round trip is what the content mechanism buys.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Middleware — three loops, three interception points</a:t>
            </a:r>
          </a:p>
        </p:txBody>
      </p:sp>
      <p:sp>
        <p:nvSpPr>
          <p:cNvPr id="3" name="TextBox 2"/>
          <p:cNvSpPr txBox="1"/>
          <p:nvPr/>
        </p:nvSpPr>
        <p:spPr>
          <a:xfrm>
            <a:off x="457200" y="1051560"/>
            <a:ext cx="5852160" cy="3657600"/>
          </a:xfrm>
          <a:prstGeom prst="rect">
            <a:avLst/>
          </a:prstGeom>
          <a:noFill/>
        </p:spPr>
        <p:txBody>
          <a:bodyPr wrap="square">
            <a:spAutoFit/>
          </a:bodyPr>
          <a:lstStyle/>
          <a:p>
            <a:pPr>
              <a:spcAft>
                <a:spcPts val="600"/>
              </a:spcAft>
              <a:defRPr sz="1500"/>
            </a:pPr>
            <a:r>
              <a:t>• One run = N model calls, with tool invocations between them. Each middleware type wraps one of those loops:</a:t>
            </a:r>
          </a:p>
          <a:p>
            <a:pPr lvl="1">
              <a:spcAft>
                <a:spcPts val="600"/>
              </a:spcAft>
              <a:defRPr sz="1400"/>
            </a:pPr>
            <a:r>
              <a:t>– Agent-run — wraps the WHOLE run (once per RunAsync): input guardrails, audit, output filtering.</a:t>
            </a:r>
          </a:p>
          <a:p>
            <a:pPr lvl="1">
              <a:spcAft>
                <a:spcPts val="600"/>
              </a:spcAft>
              <a:defRPr sz="1400"/>
            </a:pPr>
            <a:r>
              <a:t>– Function-calling — wraps EACH tool invocation: validate/rewrite/block a specific call, or terminate the loop.</a:t>
            </a:r>
          </a:p>
          <a:p>
            <a:pPr lvl="1">
              <a:spcAft>
                <a:spcPts val="600"/>
              </a:spcAft>
              <a:defRPr sz="1400"/>
            </a:pPr>
            <a:r>
              <a:t>– IChatClient — wraps EACH raw model call: caching, token accounting, prompt rewriting.</a:t>
            </a:r>
          </a:p>
          <a:p>
            <a:pPr>
              <a:spcAft>
                <a:spcPts val="600"/>
              </a:spcAft>
              <a:defRPr sz="1500"/>
            </a:pPr>
            <a:r>
              <a:t>• Registration is the same decorator move at each altitude: agent.AsBuilder().Use(...).Build() / chatClient.AsBuilder().Use(...).Build().</a:t>
            </a:r>
          </a:p>
        </p:txBody>
      </p:sp>
      <p:sp>
        <p:nvSpPr>
          <p:cNvPr id="4" name="TextBox 3"/>
          <p:cNvSpPr txBox="1"/>
          <p:nvPr/>
        </p:nvSpPr>
        <p:spPr>
          <a:xfrm>
            <a:off x="457200" y="4800600"/>
            <a:ext cx="8412480" cy="1463040"/>
          </a:xfrm>
          <a:prstGeom prst="rect">
            <a:avLst/>
          </a:prstGeom>
          <a:solidFill>
            <a:srgbClr val="F4F4F4"/>
          </a:solidFill>
        </p:spPr>
        <p:txBody>
          <a:bodyPr wrap="none" lIns="101600" tIns="76200" rIns="101600" bIns="76200">
            <a:spAutoFit/>
          </a:bodyPr>
          <a:lstStyle/>
          <a:p>
            <a:pPr>
              <a:defRPr sz="1000">
                <a:latin typeface="Consolas"/>
              </a:defRPr>
            </a:pPr>
            <a:r>
              <a:t>// agent middleware: fires once per run</a:t>
            </a:r>
          </a:p>
          <a:p>
            <a:pPr>
              <a:defRPr sz="1000">
                <a:latin typeface="Consolas"/>
              </a:defRPr>
            </a:pPr>
            <a:r>
              <a:t>agent = agent.AsBuilder().Use(AuditRun, null).Build();</a:t>
            </a:r>
          </a:p>
          <a:p>
            <a:pPr>
              <a:defRPr sz="1000">
                <a:latin typeface="Consolas"/>
              </a:defRPr>
            </a:pPr>
            <a:endParaRPr/>
          </a:p>
          <a:p>
            <a:pPr>
              <a:defRPr sz="1000">
                <a:latin typeface="Consolas"/>
              </a:defRPr>
            </a:pPr>
            <a:r>
              <a:t>// client middleware: fires once per model call inside the run</a:t>
            </a:r>
          </a:p>
          <a:p>
            <a:pPr>
              <a:defRPr sz="1000">
                <a:latin typeface="Consolas"/>
              </a:defRPr>
            </a:pPr>
            <a:r>
              <a:t>IChatClient client = azure.GetChatClient("gpt-4o-mini").AsIChatClient()</a:t>
            </a:r>
          </a:p>
          <a:p>
            <a:pPr>
              <a:defRPr sz="1000">
                <a:latin typeface="Consolas"/>
              </a:defRPr>
            </a:pPr>
            <a:r>
              <a:t>    .AsBuilder().Use(getResponseFunc: LogLlmCall,</a:t>
            </a:r>
          </a:p>
          <a:p>
            <a:pPr>
              <a:defRPr sz="1000">
                <a:latin typeface="Consolas"/>
              </a:defRPr>
            </a:pPr>
            <a:r>
              <a:t>                     getStreamingResponseFunc: null).Build();</a:t>
            </a:r>
          </a:p>
        </p:txBody>
      </p:sp>
      <p:pic>
        <p:nvPicPr>
          <p:cNvPr id="5" name="Picture 4" descr="image9.png"/>
          <p:cNvPicPr>
            <a:picLocks noChangeAspect="1"/>
          </p:cNvPicPr>
          <p:nvPr/>
        </p:nvPicPr>
        <p:blipFill>
          <a:blip r:embed="rId2"/>
          <a:stretch>
            <a:fillRect/>
          </a:stretch>
        </p:blipFill>
        <p:spPr>
          <a:xfrm>
            <a:off x="6492240" y="1051560"/>
            <a:ext cx="3000035" cy="3566160"/>
          </a:xfrm>
          <a:prstGeom prst="rect">
            <a:avLst/>
          </a:prstGeom>
        </p:spPr>
      </p:pic>
      <p:sp>
        <p:nvSpPr>
          <p:cNvPr id="6" name="TextBox 5"/>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Middleware · anchor back to ChatClientAgent.cs — the client you hand it may already be a decorated pipeline.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Structured output — and making it strict</a:t>
            </a:r>
          </a:p>
        </p:txBody>
      </p:sp>
      <p:sp>
        <p:nvSpPr>
          <p:cNvPr id="3" name="TextBox 2"/>
          <p:cNvSpPr txBox="1"/>
          <p:nvPr/>
        </p:nvSpPr>
        <p:spPr>
          <a:xfrm>
            <a:off x="457200" y="1097280"/>
            <a:ext cx="11247120" cy="2286000"/>
          </a:xfrm>
          <a:prstGeom prst="rect">
            <a:avLst/>
          </a:prstGeom>
          <a:noFill/>
        </p:spPr>
        <p:txBody>
          <a:bodyPr wrap="square">
            <a:spAutoFit/>
          </a:bodyPr>
          <a:lstStyle/>
          <a:p>
            <a:pPr>
              <a:spcAft>
                <a:spcPts val="600"/>
              </a:spcAft>
              <a:defRPr sz="1500"/>
            </a:pPr>
            <a:r>
              <a:t>• A model/service capability (schema-constrained decoding) the framework surfaces: RunAsync&lt;T&gt; derives a JSON schema from your type and hands back a typed object, not a string to parse.</a:t>
            </a:r>
          </a:p>
          <a:p>
            <a:pPr>
              <a:spcAft>
                <a:spcPts val="600"/>
              </a:spcAft>
              <a:defRPr sz="1500"/>
            </a:pPr>
            <a:r>
              <a:t>• The schema guarantees the SHAPE, never the TRUTH — a required field can still be filled with a confident guess.</a:t>
            </a:r>
          </a:p>
          <a:p>
            <a:pPr>
              <a:spcAft>
                <a:spcPts val="600"/>
              </a:spcAft>
              <a:defRPr sz="1500"/>
            </a:pPr>
            <a:r>
              <a:t>• Strictness is layered: required/non-nullable fields force answers; nullable fields give the model an out; an explicit “missing or uncertain” field makes it flag instead of invent. Evals and re-prompting are our application patterns on top — not framework switches.</a:t>
            </a:r>
          </a:p>
          <a:p>
            <a:pPr>
              <a:spcAft>
                <a:spcPts val="600"/>
              </a:spcAft>
              <a:defRPr sz="1300"/>
            </a:pPr>
            <a:r>
              <a:t>• A shortcut worth using here: run an eval as a post-pass — Microsoft.Extensions.AI.Evaluation ships LLM-judge evaluators (and supports custom ones) that score whether the populated fields are actually grounded in the input. Catches the confident guess the schema can't.</a:t>
            </a:r>
          </a:p>
        </p:txBody>
      </p:sp>
      <p:sp>
        <p:nvSpPr>
          <p:cNvPr id="4" name="TextBox 3"/>
          <p:cNvSpPr txBox="1"/>
          <p:nvPr/>
        </p:nvSpPr>
        <p:spPr>
          <a:xfrm>
            <a:off x="457200" y="3474720"/>
            <a:ext cx="9692640" cy="2651760"/>
          </a:xfrm>
          <a:prstGeom prst="rect">
            <a:avLst/>
          </a:prstGeom>
          <a:solidFill>
            <a:srgbClr val="F4F4F4"/>
          </a:solidFill>
        </p:spPr>
        <p:txBody>
          <a:bodyPr wrap="none" lIns="101600" tIns="76200" rIns="101600" bIns="76200">
            <a:spAutoFit/>
          </a:bodyPr>
          <a:lstStyle/>
          <a:p>
            <a:pPr>
              <a:defRPr sz="1000">
                <a:latin typeface="Consolas"/>
              </a:defRPr>
            </a:pPr>
            <a:r>
              <a:t>[Description("A triaged incident report")]</a:t>
            </a:r>
          </a:p>
          <a:p>
            <a:pPr>
              <a:defRPr sz="1000">
                <a:latin typeface="Consolas"/>
              </a:defRPr>
            </a:pPr>
            <a:r>
              <a:t>public sealed record IncidentTriage(</a:t>
            </a:r>
          </a:p>
          <a:p>
            <a:pPr>
              <a:defRPr sz="1000">
                <a:latin typeface="Consolas"/>
              </a:defRPr>
            </a:pPr>
            <a:r>
              <a:t>    [property: Description("MedicalEmergency, Fire, CrimeInProgress, TrafficIncident")]</a:t>
            </a:r>
          </a:p>
          <a:p>
            <a:pPr>
              <a:defRPr sz="1000">
                <a:latin typeface="Consolas"/>
              </a:defRPr>
            </a:pPr>
            <a:r>
              <a:t>    string Type,</a:t>
            </a:r>
          </a:p>
          <a:p>
            <a:pPr>
              <a:defRPr sz="1000">
                <a:latin typeface="Consolas"/>
              </a:defRPr>
            </a:pPr>
            <a:r>
              <a:t>    string Priority,</a:t>
            </a:r>
          </a:p>
          <a:p>
            <a:pPr>
              <a:defRPr sz="1000">
                <a:latin typeface="Consolas"/>
              </a:defRPr>
            </a:pPr>
            <a:r>
              <a:t>    string Location,</a:t>
            </a:r>
          </a:p>
          <a:p>
            <a:pPr>
              <a:defRPr sz="1000">
                <a:latin typeface="Consolas"/>
              </a:defRPr>
            </a:pPr>
            <a:r>
              <a:t>    [property: Description("Facts NOT stated by the caller — never guess these")]</a:t>
            </a:r>
          </a:p>
          <a:p>
            <a:pPr>
              <a:defRPr sz="1000">
                <a:latin typeface="Consolas"/>
              </a:defRPr>
            </a:pPr>
            <a:r>
              <a:t>    List&lt;string&gt; MissingOrUncertain);</a:t>
            </a:r>
          </a:p>
          <a:p>
            <a:pPr>
              <a:defRPr sz="1000">
                <a:latin typeface="Consolas"/>
              </a:defRPr>
            </a:pPr>
            <a:endParaRPr/>
          </a:p>
          <a:p>
            <a:pPr>
              <a:defRPr sz="1000">
                <a:latin typeface="Consolas"/>
              </a:defRPr>
            </a:pPr>
            <a:r>
              <a:t>AgentResponse&lt;IncidentTriage&gt; resp = await agent.RunAsync&lt;IncidentTriage&gt;(</a:t>
            </a:r>
          </a:p>
          <a:p>
            <a:pPr>
              <a:defRPr sz="1000">
                <a:latin typeface="Consolas"/>
              </a:defRPr>
            </a:pPr>
            <a:r>
              <a:t>    "Caller reports smoke from a warehouse on Oceanport Ave, no injuries mentioned.");</a:t>
            </a:r>
          </a:p>
          <a:p>
            <a:pPr>
              <a:defRPr sz="1000">
                <a:latin typeface="Consolas"/>
              </a:defRPr>
            </a:pPr>
            <a:endParaRPr/>
          </a:p>
          <a:p>
            <a:pPr>
              <a:defRPr sz="1000">
                <a:latin typeface="Consolas"/>
              </a:defRPr>
            </a:pPr>
            <a:r>
              <a:t>IncidentTriage triage = resp.Result;   // typed object, not string parsing</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Structured output · fuller: samples Agent_Step02_StructuredOutput (four variants).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The harness — everything assembled</a:t>
            </a:r>
          </a:p>
        </p:txBody>
      </p:sp>
      <p:sp>
        <p:nvSpPr>
          <p:cNvPr id="3" name="TextBox 2"/>
          <p:cNvSpPr txBox="1"/>
          <p:nvPr/>
        </p:nvSpPr>
        <p:spPr>
          <a:xfrm>
            <a:off x="457200" y="1280160"/>
            <a:ext cx="11247120" cy="4206240"/>
          </a:xfrm>
          <a:prstGeom prst="rect">
            <a:avLst/>
          </a:prstGeom>
          <a:noFill/>
        </p:spPr>
        <p:txBody>
          <a:bodyPr wrap="square">
            <a:spAutoFit/>
          </a:bodyPr>
          <a:lstStyle/>
          <a:p>
            <a:pPr>
              <a:spcAft>
                <a:spcPts val="600"/>
              </a:spcAft>
              <a:defRPr sz="1700"/>
            </a:pPr>
            <a:r>
              <a:t>• “Agent Harness” is a reserved term in this framework: HarnessAgent, a batteries-included agent that internally builds a ChatClientAgent and layers on: tool-loop limits, history persistence, context compaction, todo/plan providers, file memory, standing approval rules, telemetry.</a:t>
            </a:r>
          </a:p>
          <a:p>
            <a:pPr>
              <a:spcAft>
                <a:spcPts val="600"/>
              </a:spcAft>
              <a:defRPr sz="1700"/>
            </a:pPr>
            <a:r>
              <a:t>• ChatClientAgent is the engine; HarnessAgent is the fully equipped vehicle built around it.</a:t>
            </a:r>
          </a:p>
          <a:p>
            <a:pPr>
              <a:spcAft>
                <a:spcPts val="600"/>
              </a:spcAft>
              <a:defRPr sz="1700"/>
            </a:pPr>
            <a:r>
              <a:t>• Every battery is also available standalone — the harness is opinions, not new machinery. Read its source and you re-read this deck.</a:t>
            </a:r>
          </a:p>
        </p:txBody>
      </p:sp>
      <p:sp>
        <p:nvSpPr>
          <p:cNvPr id="4" name="TextBox 3"/>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Lab 0 revisited · HarnessAgent.cs: the remarks block + DefaultInstructions — every item in its pipeline list is a slide we already did.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Workflows — the layer above agents</a:t>
            </a:r>
          </a:p>
        </p:txBody>
      </p:sp>
      <p:sp>
        <p:nvSpPr>
          <p:cNvPr id="3" name="TextBox 2"/>
          <p:cNvSpPr txBox="1"/>
          <p:nvPr/>
        </p:nvSpPr>
        <p:spPr>
          <a:xfrm>
            <a:off x="457200" y="1097280"/>
            <a:ext cx="11247120" cy="2194560"/>
          </a:xfrm>
          <a:prstGeom prst="rect">
            <a:avLst/>
          </a:prstGeom>
          <a:noFill/>
        </p:spPr>
        <p:txBody>
          <a:bodyPr wrap="square">
            <a:spAutoFit/>
          </a:bodyPr>
          <a:lstStyle/>
          <a:p>
            <a:pPr>
              <a:spcAft>
                <a:spcPts val="600"/>
              </a:spcAft>
              <a:defRPr sz="1500"/>
            </a:pPr>
            <a:r>
              <a:t>• An explicitly authored graph: executors (which can BE agents) connected by typed edges. You predefine the topology — flexibility traded for control.</a:t>
            </a:r>
          </a:p>
          <a:p>
            <a:pPr>
              <a:spcAft>
                <a:spcPts val="600"/>
              </a:spcAft>
              <a:defRPr sz="1500"/>
            </a:pPr>
            <a:r>
              <a:t>• Not fully rigid: conditional routing, parallel fan-out, checkpointing, and human-in-the-loop (RequestInfoExecutor) are built in. But the flow is authored, not LLM-decided.</a:t>
            </a:r>
          </a:p>
          <a:p>
            <a:pPr>
              <a:spcAft>
                <a:spcPts val="600"/>
              </a:spcAft>
              <a:defRPr sz="1500"/>
            </a:pPr>
            <a:r>
              <a:t>• Our phase 2: build workflows on top of the manual loops once those are understood — not the starting point.</a:t>
            </a:r>
          </a:p>
        </p:txBody>
      </p:sp>
      <p:sp>
        <p:nvSpPr>
          <p:cNvPr id="4" name="TextBox 3"/>
          <p:cNvSpPr txBox="1"/>
          <p:nvPr/>
        </p:nvSpPr>
        <p:spPr>
          <a:xfrm>
            <a:off x="457200" y="3383280"/>
            <a:ext cx="9326880" cy="2011680"/>
          </a:xfrm>
          <a:prstGeom prst="rect">
            <a:avLst/>
          </a:prstGeom>
          <a:solidFill>
            <a:srgbClr val="F4F4F4"/>
          </a:solidFill>
        </p:spPr>
        <p:txBody>
          <a:bodyPr wrap="none" lIns="101600" tIns="76200" rIns="101600" bIns="76200">
            <a:spAutoFit/>
          </a:bodyPr>
          <a:lstStyle/>
          <a:p>
            <a:pPr>
              <a:defRPr sz="1100">
                <a:latin typeface="Consolas"/>
              </a:defRPr>
            </a:pPr>
            <a:r>
              <a:t>AIAgent triage = /* classifies the incident */;</a:t>
            </a:r>
          </a:p>
          <a:p>
            <a:pPr>
              <a:defRPr sz="1100">
                <a:latin typeface="Consolas"/>
              </a:defRPr>
            </a:pPr>
            <a:r>
              <a:t>AIAgent assign = /* picks the unit to dispatch */;</a:t>
            </a:r>
          </a:p>
          <a:p>
            <a:pPr>
              <a:defRPr sz="1100">
                <a:latin typeface="Consolas"/>
              </a:defRPr>
            </a:pPr>
            <a:endParaRPr/>
          </a:p>
          <a:p>
            <a:pPr>
              <a:defRPr sz="1100">
                <a:latin typeface="Consolas"/>
              </a:defRPr>
            </a:pPr>
            <a:r>
              <a:t>var workflow = new WorkflowBuilder(triage)</a:t>
            </a:r>
          </a:p>
          <a:p>
            <a:pPr>
              <a:defRPr sz="1100">
                <a:latin typeface="Consolas"/>
              </a:defRPr>
            </a:pPr>
            <a:r>
              <a:t>    .AddEdge(triage, assign)</a:t>
            </a:r>
          </a:p>
          <a:p>
            <a:pPr>
              <a:defRPr sz="1100">
                <a:latin typeface="Consolas"/>
              </a:defRPr>
            </a:pPr>
            <a:r>
              <a:t>    .Build();</a:t>
            </a:r>
          </a:p>
          <a:p>
            <a:pPr>
              <a:defRPr sz="1100">
                <a:latin typeface="Consolas"/>
              </a:defRPr>
            </a:pPr>
            <a:endParaRPr/>
          </a:p>
          <a:p>
            <a:pPr>
              <a:defRPr sz="1100">
                <a:latin typeface="Consolas"/>
              </a:defRPr>
            </a:pPr>
            <a:r>
              <a:t>await using StreamingRun run = await InProcessExecution.RunStreamingAsync(</a:t>
            </a:r>
          </a:p>
          <a:p>
            <a:pPr>
              <a:defRPr sz="1100">
                <a:latin typeface="Consolas"/>
              </a:defRPr>
            </a:pPr>
            <a:r>
              <a:t>    workflow, new ChatMessage(ChatRole.User, "Smoke reported at Lincroft warehouse"));</a:t>
            </a:r>
          </a:p>
        </p:txBody>
      </p:sp>
      <p:sp>
        <p:nvSpPr>
          <p:cNvPr id="5" name="TextBox 4"/>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Program.cs → #region Workflow (existence proof) · RequestInfoExecutor = the human gate as a first-class node. Fallback: samples/03-workflows. Point at checkpointing; don't run.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Other features — existence proofs, honest verdicts</a:t>
            </a:r>
          </a:p>
        </p:txBody>
      </p:sp>
      <p:sp>
        <p:nvSpPr>
          <p:cNvPr id="3" name="TextBox 2"/>
          <p:cNvSpPr txBox="1"/>
          <p:nvPr/>
        </p:nvSpPr>
        <p:spPr>
          <a:xfrm>
            <a:off x="457200" y="1097280"/>
            <a:ext cx="11247120" cy="2200602"/>
          </a:xfrm>
          <a:prstGeom prst="rect">
            <a:avLst/>
          </a:prstGeom>
          <a:noFill/>
        </p:spPr>
        <p:txBody>
          <a:bodyPr wrap="square">
            <a:spAutoFit/>
          </a:bodyPr>
          <a:lstStyle/>
          <a:p>
            <a:pPr>
              <a:spcAft>
                <a:spcPts val="600"/>
              </a:spcAft>
              <a:defRPr sz="1400"/>
            </a:pPr>
            <a:r>
              <a:rPr dirty="0"/>
              <a:t>• Backgrounding — continuation-token polling; Responses-API backends only; plain Task concurrency covers our need. Read-only.</a:t>
            </a:r>
          </a:p>
          <a:p>
            <a:pPr>
              <a:spcAft>
                <a:spcPts val="600"/>
              </a:spcAft>
              <a:defRPr sz="1400"/>
            </a:pPr>
            <a:r>
              <a:rPr dirty="0"/>
              <a:t>• RAG — retrieval is literally a context provider (</a:t>
            </a:r>
            <a:r>
              <a:rPr dirty="0" err="1"/>
              <a:t>TextSearchProvider</a:t>
            </a:r>
            <a:r>
              <a:rPr dirty="0"/>
              <a:t> + vector store). </a:t>
            </a:r>
            <a:endParaRPr lang="en-US" dirty="0"/>
          </a:p>
          <a:p>
            <a:pPr>
              <a:spcAft>
                <a:spcPts val="600"/>
              </a:spcAft>
              <a:defRPr sz="1400"/>
            </a:pPr>
            <a:r>
              <a:rPr dirty="0"/>
              <a:t>• Evaluation — </a:t>
            </a:r>
            <a:r>
              <a:rPr dirty="0" err="1"/>
              <a:t>Microsoft.Extensions.AI.Evaluation</a:t>
            </a:r>
            <a:r>
              <a:rPr dirty="0"/>
              <a:t> libraries; probably worth it, needs further consideration.</a:t>
            </a:r>
          </a:p>
          <a:p>
            <a:pPr>
              <a:spcAft>
                <a:spcPts val="600"/>
              </a:spcAft>
              <a:defRPr sz="1400"/>
            </a:pPr>
            <a:r>
              <a:rPr dirty="0"/>
              <a:t>• Agent Skills — portable skill packages (SKILL.md + scripts) loaded via </a:t>
            </a:r>
            <a:r>
              <a:rPr dirty="0" err="1"/>
              <a:t>AgentSkillsProvider</a:t>
            </a:r>
            <a:r>
              <a:rPr dirty="0"/>
              <a:t>; its tools require approval by default, configurable per tool. Valuable, complex area.</a:t>
            </a:r>
          </a:p>
          <a:p>
            <a:pPr>
              <a:spcAft>
                <a:spcPts val="600"/>
              </a:spcAft>
              <a:defRPr sz="1400"/>
            </a:pPr>
            <a:r>
              <a:rPr dirty="0"/>
              <a:t>• Durable Tasks — state survives restarts, resumes after failures, scales across stateless workers. Needs more study.</a:t>
            </a:r>
          </a:p>
          <a:p>
            <a:pPr>
              <a:spcAft>
                <a:spcPts val="600"/>
              </a:spcAft>
              <a:defRPr sz="1400"/>
            </a:pPr>
            <a:r>
              <a:rPr dirty="0"/>
              <a:t>• </a:t>
            </a:r>
            <a:r>
              <a:rPr dirty="0" err="1"/>
              <a:t>CodeAct</a:t>
            </a:r>
            <a:r>
              <a:rPr dirty="0"/>
              <a:t> — the model writes a short program against your tools and runs it once in a sandbox, collapsing the </a:t>
            </a:r>
            <a:r>
              <a:rPr dirty="0" err="1"/>
              <a:t>model→tool→model</a:t>
            </a:r>
            <a:r>
              <a:rPr dirty="0"/>
              <a:t> loop. Approval applies to </a:t>
            </a:r>
            <a:r>
              <a:rPr dirty="0" err="1"/>
              <a:t>execute_code</a:t>
            </a:r>
            <a:r>
              <a:rPr dirty="0"/>
              <a:t> as a whole; per-operation approval means keeping those operations as direct tools. Needs vetting.</a:t>
            </a:r>
          </a:p>
        </p:txBody>
      </p:sp>
      <p:sp>
        <p:nvSpPr>
          <p:cNvPr id="4" name="TextBox 3"/>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No lab — jump targets if questions pull: Agent_Step14 (backgrounding), AgentWithRAG_Step01, samples/03-workflows.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11247120" cy="731520"/>
          </a:xfrm>
          <a:prstGeom prst="rect">
            <a:avLst/>
          </a:prstGeom>
          <a:noFill/>
        </p:spPr>
        <p:txBody>
          <a:bodyPr wrap="none">
            <a:spAutoFit/>
          </a:bodyPr>
          <a:lstStyle/>
          <a:p>
            <a:pPr>
              <a:defRPr sz="3000" b="1"/>
            </a:pPr>
            <a:r>
              <a:t>Difficulties — and where we land</a:t>
            </a:r>
          </a:p>
        </p:txBody>
      </p:sp>
      <p:sp>
        <p:nvSpPr>
          <p:cNvPr id="3" name="TextBox 2"/>
          <p:cNvSpPr txBox="1"/>
          <p:nvPr/>
        </p:nvSpPr>
        <p:spPr>
          <a:xfrm>
            <a:off x="457200" y="1097280"/>
            <a:ext cx="11247120" cy="4754880"/>
          </a:xfrm>
          <a:prstGeom prst="rect">
            <a:avLst/>
          </a:prstGeom>
          <a:noFill/>
        </p:spPr>
        <p:txBody>
          <a:bodyPr wrap="square">
            <a:spAutoFit/>
          </a:bodyPr>
          <a:lstStyle/>
          <a:p>
            <a:pPr>
              <a:spcAft>
                <a:spcPts val="600"/>
              </a:spcAft>
              <a:defRPr sz="1500"/>
            </a:pPr>
            <a:r>
              <a:t>• Feature overlap is real and by design: the composites (harness, providers) are the base pieces repackaged — the docs confirm every harness feature is also available standalone.</a:t>
            </a:r>
          </a:p>
          <a:p>
            <a:pPr>
              <a:spcAft>
                <a:spcPts val="600"/>
              </a:spcAft>
              <a:defRPr sz="1500"/>
            </a:pPr>
            <a:r>
              <a:t>• So “build in-house” should mean composing the extension points — options, providers, middleware, decorators — not rebuilding the loop.</a:t>
            </a:r>
          </a:p>
          <a:p>
            <a:pPr>
              <a:spcAft>
                <a:spcPts val="600"/>
              </a:spcAft>
              <a:defRPr sz="1500"/>
            </a:pPr>
            <a:r>
              <a:t>• Prompt injection is a real threat, per Microsoft's own base class: messages pass through without validation or sanitization; tool-retrieved data can carry injected instructions; all tools run unapproved by default.</a:t>
            </a:r>
          </a:p>
          <a:p>
            <a:pPr lvl="1">
              <a:spcAft>
                <a:spcPts val="600"/>
              </a:spcAft>
              <a:defRPr sz="1400"/>
            </a:pPr>
            <a:r>
              <a:t>– Mitigations we already saw: approval gates on side-effecting tools, output validation, sandboxed CodeAct with narrow host tools.</a:t>
            </a:r>
          </a:p>
          <a:p>
            <a:pPr>
              <a:spcAft>
                <a:spcPts val="600"/>
              </a:spcAft>
              <a:defRPr sz="1500"/>
            </a:pPr>
            <a:r>
              <a:t>• Hosted vs not: we stay not-hosted (agents run in our code). Service-stored conversation state is the one hosted piece worth borrowing.</a:t>
            </a:r>
          </a:p>
        </p:txBody>
      </p:sp>
      <p:sp>
        <p:nvSpPr>
          <p:cNvPr id="4" name="TextBox 3"/>
          <p:cNvSpPr txBox="1"/>
          <p:nvPr/>
        </p:nvSpPr>
        <p:spPr>
          <a:xfrm>
            <a:off x="457200" y="6355080"/>
            <a:ext cx="11247120" cy="411480"/>
          </a:xfrm>
          <a:prstGeom prst="rect">
            <a:avLst/>
          </a:prstGeom>
          <a:noFill/>
        </p:spPr>
        <p:txBody>
          <a:bodyPr wrap="none">
            <a:spAutoFit/>
          </a:bodyPr>
          <a:lstStyle/>
          <a:p>
            <a:pPr>
              <a:defRPr sz="1200" i="1">
                <a:solidFill>
                  <a:srgbClr val="595959"/>
                </a:solidFill>
              </a:defRPr>
            </a:pPr>
            <a:r>
              <a:t>→ Capstone · run Program.cs end-to-end; put AIAgent.cs's security remarks on screen — Microsoft says it in their own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3561</Words>
  <Application>Microsoft Office PowerPoint</Application>
  <PresentationFormat>Widescreen</PresentationFormat>
  <Paragraphs>248</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Dimitrios Meimeteas</cp:lastModifiedBy>
  <cp:revision>7</cp:revision>
  <dcterms:created xsi:type="dcterms:W3CDTF">2013-01-27T09:14:16Z</dcterms:created>
  <dcterms:modified xsi:type="dcterms:W3CDTF">2026-07-21T20:00:18Z</dcterms:modified>
  <cp:category/>
</cp:coreProperties>
</file>